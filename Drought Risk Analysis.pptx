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slideLayouts/slideLayout8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79" r:id="rId4"/>
    <p:sldMasterId id="2147483800" r:id="rId5"/>
    <p:sldMasterId id="2147483777" r:id="rId6"/>
    <p:sldMasterId id="2147483792" r:id="rId7"/>
    <p:sldMasterId id="2147483799" r:id="rId8"/>
  </p:sldMasterIdLst>
  <p:notesMasterIdLst>
    <p:notesMasterId r:id="rId22"/>
  </p:notesMasterIdLst>
  <p:handoutMasterIdLst>
    <p:handoutMasterId r:id="rId23"/>
  </p:handoutMasterIdLst>
  <p:sldIdLst>
    <p:sldId id="256" r:id="rId9"/>
    <p:sldId id="262" r:id="rId10"/>
    <p:sldId id="263" r:id="rId11"/>
    <p:sldId id="266" r:id="rId12"/>
    <p:sldId id="265" r:id="rId13"/>
    <p:sldId id="267" r:id="rId14"/>
    <p:sldId id="268" r:id="rId15"/>
    <p:sldId id="270" r:id="rId16"/>
    <p:sldId id="269" r:id="rId17"/>
    <p:sldId id="271" r:id="rId18"/>
    <p:sldId id="272" r:id="rId19"/>
    <p:sldId id="264" r:id="rId20"/>
    <p:sldId id="261" r:id="rId21"/>
  </p:sldIdLst>
  <p:sldSz cx="12192000" cy="6858000"/>
  <p:notesSz cx="7010400" cy="9296400"/>
  <p:embeddedFontLst>
    <p:embeddedFont>
      <p:font typeface="Avenir Next LT Pro" panose="020B0504020202020204" pitchFamily="34" charset="0"/>
      <p:regular r:id="rId24"/>
      <p:bold r:id="rId25"/>
      <p:italic r:id="rId26"/>
      <p:boldItalic r:id="rId27"/>
    </p:embeddedFont>
    <p:embeddedFont>
      <p:font typeface="Cairo" pitchFamily="2" charset="-78"/>
      <p:regular r:id="rId28"/>
      <p:bold r:id="rId29"/>
    </p:embeddedFont>
    <p:embeddedFont>
      <p:font typeface="Cairo Medium" pitchFamily="2" charset="-78"/>
      <p:regular r:id="rId30"/>
    </p:embeddedFont>
    <p:embeddedFont>
      <p:font typeface="Cambria Math" panose="02040503050406030204" pitchFamily="18" charset="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2B99C14-5970-F8F1-3DAC-C0B105B4BAB9}" name="Ian Shaw" initials="IS" userId="S::ishaw@asr-re.com::6620f87b-70d9-4c44-86d8-aec456ef91bd" providerId="AD"/>
  <p188:author id="{DB196B1A-AA82-8E01-0E06-70E36AAF71C9}" name="Yajnah Lowtun" initials="YL" userId="S::ylowtun@asr-re.com::4168dd90-32b8-4b9c-8760-6c7a63340bfa" providerId="AD"/>
  <p188:author id="{90282F33-9C2E-E798-EC53-5686174BE6E7}" name="Nicola Bellamy" initials="NB" userId="Nicola Bellamy" providerId="None"/>
  <p188:author id="{B3277A56-8E8E-1E28-BB4D-64CC579CEDAF}" name="Guest User" initials="GU" userId="S::urn:spo:anon#1b8ca4a8d88c0860cf5d94909de6801b2d2f8d99850551ce26b2bc72509994d4::" providerId="AD"/>
  <p188:author id="{B6F1956A-97A8-B2F5-3337-BD4C8444997B}" name="Douglas Rowlings" initials="" userId="S::drowlings@asr-re.com::5b966d7d-8f7b-44cd-8220-e74c4d50acc2" providerId="AD"/>
  <p188:author id="{4FF7BA6E-BD2A-CC3A-4779-48EFC841DD66}" name="Guest User" initials="GU" userId="S::urn:spo:anon#160fd27da8809cb84c7ae70c036c7ddd14bf1bf795b95dbf93c50206007b5911::" providerId="AD"/>
  <p188:author id="{C293CB7D-D4F4-9C61-83ED-12E0AA38819D}" name="Guest User" initials="GU" userId="S::urn:spo:anon#10b1b865b81e380fa296722533d60338c342f59fa4fe46642866813aaea10477::" providerId="AD"/>
  <p188:author id="{A04EF07E-152F-C09B-3755-45C4BCCE8CAE}" name="Caroline Hilton" initials="CH" userId="S::chilton@asr-re.com::8cb68880-ec14-4db4-91b1-5701775ddf25" providerId="AD"/>
  <p188:author id="{A3FBE887-DE55-5EBF-2168-595318E74CCC}" name="Guest User" initials="GU" userId="S::urn:spo:anon#5fefb8754686b10ac7e653b23dbf1b7e71fd8e94c2242437bbe46fbfba1a2471::" providerId="AD"/>
  <p188:author id="{595C3D95-5469-4674-4EA1-F0FB8C4C1976}" name="Martin Boreham" initials="MB" userId="S::mboreham@asr-re.com::af40969f-9aa3-4d31-bb25-a0a2ef7063e5" providerId="AD"/>
  <p188:author id="{CFD3A596-F4E4-7182-9D98-819B86911AAD}" name="Poonam Doolhur" initials="PD" userId="S::pdoolhur@asr-re.com::52431fb3-991a-46bc-9714-fc16a8dd9b42" providerId="AD"/>
  <p188:author id="{1B8DC5BA-1775-6B78-5C4A-35C1A1572EE5}" name="Vinta Bhugmaneea" initials="VB" userId="S::vbhugmaneea@asr-re.com::3937bec6-47e5-46e0-bd0a-192035b7361b" providerId="AD"/>
  <p188:author id="{FC718CE4-43C7-2949-D3FB-DE991877A4F7}" name="Guest User" initials="GU" userId="S::urn:spo:anon#1cf0bc03f144fa8d4847a36b1b29502930bcd75b313321a422dc75136f67b3d0::" providerId="AD"/>
  <p188:author id="{752879E6-3CE4-63E6-7C93-0E033D93C85A}" name="Guest User" initials="GU" userId="S::urn:spo:anon#11ea90b244ef897656048d70d2fcd21b96262122973062e5c422a66d1b585a8f::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lena Lacheta" initials="ML" lastIdx="35" clrIdx="0">
    <p:extLst>
      <p:ext uri="{19B8F6BF-5375-455C-9EA6-DF929625EA0E}">
        <p15:presenceInfo xmlns:p15="http://schemas.microsoft.com/office/powerpoint/2012/main" userId="S::milena.lacheta@aon.com::419de56c-25aa-4625-bce2-7911b4e87e30" providerId="AD"/>
      </p:ext>
    </p:extLst>
  </p:cmAuthor>
  <p:cmAuthor id="2" name="Nicola Bellamy" initials="NB" lastIdx="1" clrIdx="1">
    <p:extLst>
      <p:ext uri="{19B8F6BF-5375-455C-9EA6-DF929625EA0E}">
        <p15:presenceInfo xmlns:p15="http://schemas.microsoft.com/office/powerpoint/2012/main" userId="S::nbellamy@asr-re.com::999a16a5-9056-43f8-9a35-313d0a541060" providerId="AD"/>
      </p:ext>
    </p:extLst>
  </p:cmAuthor>
  <p:cmAuthor id="3" name="Stuart Hilton" initials="SH" lastIdx="3" clrIdx="2">
    <p:extLst>
      <p:ext uri="{19B8F6BF-5375-455C-9EA6-DF929625EA0E}">
        <p15:presenceInfo xmlns:p15="http://schemas.microsoft.com/office/powerpoint/2012/main" userId="d9b04da2fdcf6c8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0B60"/>
    <a:srgbClr val="0038A8"/>
    <a:srgbClr val="90523C"/>
    <a:srgbClr val="FFCE42"/>
    <a:srgbClr val="8F8935"/>
    <a:srgbClr val="E9EBF5"/>
    <a:srgbClr val="CFD5EA"/>
    <a:srgbClr val="203764"/>
    <a:srgbClr val="FBB505"/>
    <a:srgbClr val="0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494" autoAdjust="0"/>
    <p:restoredTop sz="94080" autoAdjust="0"/>
  </p:normalViewPr>
  <p:slideViewPr>
    <p:cSldViewPr snapToGrid="0">
      <p:cViewPr varScale="1">
        <p:scale>
          <a:sx n="74" d="100"/>
          <a:sy n="74" d="100"/>
        </p:scale>
        <p:origin x="51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381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font" Target="fonts/font3.fntdata"/><Relationship Id="rId21" Type="http://schemas.openxmlformats.org/officeDocument/2006/relationships/slide" Target="slides/slide13.xml"/><Relationship Id="rId34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font" Target="fonts/font2.fntdata"/><Relationship Id="rId33" Type="http://schemas.openxmlformats.org/officeDocument/2006/relationships/presProps" Target="presProps.xml"/><Relationship Id="rId38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font" Target="fonts/font6.fntdata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font" Target="fonts/font1.fntdata"/><Relationship Id="rId32" Type="http://schemas.openxmlformats.org/officeDocument/2006/relationships/commentAuthors" Target="commentAuthors.xml"/><Relationship Id="rId37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handoutMaster" Target="handoutMasters/handoutMaster1.xml"/><Relationship Id="rId28" Type="http://schemas.openxmlformats.org/officeDocument/2006/relationships/font" Target="fonts/font5.fntdata"/><Relationship Id="rId36" Type="http://schemas.openxmlformats.org/officeDocument/2006/relationships/tableStyles" Target="tableStyle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font" Target="fonts/font8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theme" Target="theme/theme1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lawiya Shirish More" userId="ada0e0fe-72f4-4635-a06f-315390d4cea4" providerId="ADAL" clId="{C4848432-281D-4DD8-B74E-71137D349F2D}"/>
    <pc:docChg chg="undo custSel addSld modSld sldOrd">
      <pc:chgData name="Flawiya Shirish More" userId="ada0e0fe-72f4-4635-a06f-315390d4cea4" providerId="ADAL" clId="{C4848432-281D-4DD8-B74E-71137D349F2D}" dt="2026-09-17T13:18:14.075" v="571" actId="20577"/>
      <pc:docMkLst>
        <pc:docMk/>
      </pc:docMkLst>
      <pc:sldChg chg="delSp modSp mod">
        <pc:chgData name="Flawiya Shirish More" userId="ada0e0fe-72f4-4635-a06f-315390d4cea4" providerId="ADAL" clId="{C4848432-281D-4DD8-B74E-71137D349F2D}" dt="2026-09-17T13:18:14.075" v="571" actId="20577"/>
        <pc:sldMkLst>
          <pc:docMk/>
          <pc:sldMk cId="2560068255" sldId="256"/>
        </pc:sldMkLst>
        <pc:spChg chg="mod">
          <ac:chgData name="Flawiya Shirish More" userId="ada0e0fe-72f4-4635-a06f-315390d4cea4" providerId="ADAL" clId="{C4848432-281D-4DD8-B74E-71137D349F2D}" dt="2026-09-17T13:17:48.094" v="563" actId="20577"/>
          <ac:spMkLst>
            <pc:docMk/>
            <pc:sldMk cId="2560068255" sldId="256"/>
            <ac:spMk id="4" creationId="{DA27084E-ABB9-44FA-7331-AA8D4EAA79AB}"/>
          </ac:spMkLst>
        </pc:spChg>
        <pc:spChg chg="mod">
          <ac:chgData name="Flawiya Shirish More" userId="ada0e0fe-72f4-4635-a06f-315390d4cea4" providerId="ADAL" clId="{C4848432-281D-4DD8-B74E-71137D349F2D}" dt="2026-09-17T13:18:14.075" v="571" actId="20577"/>
          <ac:spMkLst>
            <pc:docMk/>
            <pc:sldMk cId="2560068255" sldId="256"/>
            <ac:spMk id="5" creationId="{05D4AC55-FB2E-527A-CB7C-4E22E3333D33}"/>
          </ac:spMkLst>
        </pc:spChg>
        <pc:spChg chg="del mod">
          <ac:chgData name="Flawiya Shirish More" userId="ada0e0fe-72f4-4635-a06f-315390d4cea4" providerId="ADAL" clId="{C4848432-281D-4DD8-B74E-71137D349F2D}" dt="2026-09-17T13:18:00.867" v="565" actId="478"/>
          <ac:spMkLst>
            <pc:docMk/>
            <pc:sldMk cId="2560068255" sldId="256"/>
            <ac:spMk id="6" creationId="{BD2B5C21-56C8-55F0-0806-6B5FB66586FA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4CBB319-B97B-4CBB-A641-E7890381226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1"/>
            <a:ext cx="3037840" cy="466435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EF0A95-6E7E-4061-9F2C-9C91EABD67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938" y="1"/>
            <a:ext cx="3037840" cy="466435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r">
              <a:defRPr sz="1300"/>
            </a:lvl1pPr>
          </a:lstStyle>
          <a:p>
            <a:fld id="{7E212637-B648-4452-BACF-E65DA2BAD4E2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27FC16-0F79-4A2B-A92B-1FE4665C415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8829967"/>
            <a:ext cx="3037840" cy="466433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069C03-D245-4536-B5A9-5EC7D8E6654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r">
              <a:defRPr sz="1300"/>
            </a:lvl1pPr>
          </a:lstStyle>
          <a:p>
            <a:fld id="{D7AD0E15-8375-4EC5-BA43-4236D632E3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84850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37840" cy="466435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1"/>
            <a:ext cx="3037840" cy="466435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r">
              <a:defRPr sz="1300"/>
            </a:lvl1pPr>
          </a:lstStyle>
          <a:p>
            <a:fld id="{62716337-CC0F-4749-A815-C181EEAC580D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5963" y="1162050"/>
            <a:ext cx="5578475" cy="31384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06" tIns="48303" rIns="96606" bIns="48303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1" y="4473894"/>
            <a:ext cx="5608320" cy="3660457"/>
          </a:xfrm>
          <a:prstGeom prst="rect">
            <a:avLst/>
          </a:prstGeom>
        </p:spPr>
        <p:txBody>
          <a:bodyPr vert="horz" lIns="96606" tIns="48303" rIns="96606" bIns="48303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29967"/>
            <a:ext cx="3037840" cy="466433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r">
              <a:defRPr sz="1300"/>
            </a:lvl1pPr>
          </a:lstStyle>
          <a:p>
            <a:fld id="{F5BC383E-D29A-4571-8EFA-3D5D82F623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9743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BC383E-D29A-4571-8EFA-3D5D82F6232B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30660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BC383E-D29A-4571-8EFA-3D5D82F6232B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3855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BC383E-D29A-4571-8EFA-3D5D82F6232B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01227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algn="just" fontAlgn="t">
              <a:buFont typeface="Arial" panose="020B0604020202020204" pitchFamily="34" charset="0"/>
              <a:buChar char="•"/>
            </a:pPr>
            <a:endParaRPr lang="en-GB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BC383E-D29A-4571-8EFA-3D5D82F6232B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28621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BC383E-D29A-4571-8EFA-3D5D82F6232B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86292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61DE6-5701-C054-3C0D-6E87DD0B6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587BC2-7F3F-C348-6D1C-544B929A4E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5FEC48-4CFA-B7C0-6788-35F913D74F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1EF1B4-3343-8336-1ADD-39BB42C66B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BC383E-D29A-4571-8EFA-3D5D82F6232B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76866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F92BA-C8A5-7D80-597E-7F7683B96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0E1DA4-62FB-3B4D-40C2-9CF9E7E787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0335E4-D39A-0714-D781-54EA5DAA9C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FC673C-93A0-D981-0826-8835455E6F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BC383E-D29A-4571-8EFA-3D5D82F6232B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3585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BC383E-D29A-4571-8EFA-3D5D82F6232B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91135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60E460F3-D490-E429-2393-15281F9C6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2690" y="3060088"/>
            <a:ext cx="572114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B2CBB1D-4E2F-514D-5E2A-72195BBD7D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82690" y="5064125"/>
            <a:ext cx="5721140" cy="1073150"/>
          </a:xfrm>
          <a:prstGeom prst="rect">
            <a:avLst/>
          </a:prstGeom>
        </p:spPr>
        <p:txBody>
          <a:bodyPr/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 smtClean="0">
                <a:solidFill>
                  <a:schemeClr val="bg1"/>
                </a:solidFill>
                <a:latin typeface="Cairo" panose="00000800000000000000" pitchFamily="2" charset="-78"/>
                <a:ea typeface="+mj-ea"/>
                <a:cs typeface="Cairo" panose="00000800000000000000" pitchFamily="2" charset="-78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A9C4F9-BA8A-ECCB-509D-FF1D19B0530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51605" y="6310313"/>
            <a:ext cx="4114800" cy="365125"/>
          </a:xfrm>
        </p:spPr>
        <p:txBody>
          <a:bodyPr anchor="b"/>
          <a:lstStyle/>
          <a:p>
            <a:r>
              <a:rPr lang="en-GB"/>
              <a:t>Private &amp; Confidential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61134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60E460F3-D490-E429-2393-15281F9C6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2690" y="3060088"/>
            <a:ext cx="572114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B2CBB1D-4E2F-514D-5E2A-72195BBD7D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82690" y="5064125"/>
            <a:ext cx="5721140" cy="1073150"/>
          </a:xfrm>
          <a:prstGeom prst="rect">
            <a:avLst/>
          </a:prstGeom>
        </p:spPr>
        <p:txBody>
          <a:bodyPr/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 smtClean="0">
                <a:solidFill>
                  <a:schemeClr val="bg1"/>
                </a:solidFill>
                <a:latin typeface="Cairo" panose="00000800000000000000" pitchFamily="2" charset="-78"/>
                <a:ea typeface="+mj-ea"/>
                <a:cs typeface="Cairo" panose="00000800000000000000" pitchFamily="2" charset="-78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A9C4F9-BA8A-ECCB-509D-FF1D19B0530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51605" y="6310313"/>
            <a:ext cx="4114800" cy="365125"/>
          </a:xfrm>
        </p:spPr>
        <p:txBody>
          <a:bodyPr anchor="b"/>
          <a:lstStyle/>
          <a:p>
            <a:r>
              <a:rPr lang="en-GB"/>
              <a:t>Private &amp; Confidential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14286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E251F523-59C7-44E0-AC21-25E287DD63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30056" y="4380139"/>
            <a:ext cx="7402513" cy="107315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 smtClean="0">
                <a:solidFill>
                  <a:srgbClr val="240B60"/>
                </a:solidFill>
                <a:latin typeface="Cairo" panose="00000800000000000000" pitchFamily="2" charset="-78"/>
                <a:ea typeface="+mj-ea"/>
                <a:cs typeface="Cairo" panose="00000800000000000000" pitchFamily="2" charset="-78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7A141497-36C3-40EF-B498-A9A0DA4F8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5567" y="3429000"/>
            <a:ext cx="7556433" cy="73179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79D9D4-70EA-87D2-CE87-E24AFADC041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Private &amp; Confidential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91143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5B813-C7B9-4148-8468-D6634F20AC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87955" y="1426866"/>
            <a:ext cx="5308043" cy="471514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71B069-6648-418A-85BF-5FB09B435A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26866"/>
            <a:ext cx="5308042" cy="471514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1FADA3-00D0-F1B0-1031-3A3E7E2487D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870BB4D-683F-4BE4-9264-B05BE7781C96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6248F-7EB6-7D0A-975B-DBD16B41F58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Private &amp; Confidential</a:t>
            </a:r>
            <a:endParaRPr lang="en-GB" dirty="0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061CDCDF-E4A9-62BF-8DE5-EE6BE1B6F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758" y="685097"/>
            <a:ext cx="10783556" cy="6143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933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9BE2F-A423-43F1-8573-6ACFA91AD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772" y="1430235"/>
            <a:ext cx="10694795" cy="479959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8F9F9F-A3A3-1358-C040-3BDB02D466F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870BB4D-683F-4BE4-9264-B05BE7781C96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4CF47CB-F540-5265-F4D7-CA3BED5B6F4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Private &amp; Confidential</a:t>
            </a:r>
            <a:endParaRPr lang="en-GB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B26DC5-DDFE-89E2-5A3B-DD0ACB459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433" y="681781"/>
            <a:ext cx="10765134" cy="6143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600" b="0">
                <a:latin typeface="Cairo Medium" pitchFamily="2" charset="-78"/>
                <a:cs typeface="Cairo Medium" pitchFamily="2" charset="-78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20308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7E3492-1E5E-4471-AF13-27D3F0DFD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4868" y="1430465"/>
            <a:ext cx="5311132" cy="636778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800" b="0">
                <a:solidFill>
                  <a:srgbClr val="240B60"/>
                </a:solidFill>
                <a:latin typeface="Cairo" panose="00000800000000000000" pitchFamily="2" charset="-78"/>
                <a:cs typeface="Cairo" panose="00000800000000000000" pitchFamily="2" charset="-78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7AF75C-BFEF-43D8-900B-A212B022AD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81692" y="2087909"/>
            <a:ext cx="5311132" cy="408479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4F6072-5233-4C61-886D-7A1AFB6B2A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4261" y="1416778"/>
            <a:ext cx="5317481" cy="63677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2800" b="0">
                <a:solidFill>
                  <a:srgbClr val="240B60"/>
                </a:solidFill>
                <a:latin typeface="Cairo" panose="00000800000000000000" pitchFamily="2" charset="-78"/>
                <a:cs typeface="Cairo" panose="00000800000000000000" pitchFamily="2" charset="-78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AFB977-7AF0-4A09-9C88-06A36627D5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67435" y="2074223"/>
            <a:ext cx="5311131" cy="408479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CB2A309-76BD-D839-DCFD-98E9B1B369B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870BB4D-683F-4BE4-9264-B05BE7781C96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511415A-1CF6-AB0C-CE0B-801CFE33F50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Private &amp; Confidential</a:t>
            </a:r>
            <a:endParaRPr lang="en-GB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80D8FDE6-6486-F78B-BDD5-E169069B6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433" y="681781"/>
            <a:ext cx="10765134" cy="6143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5336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7D8224-2F85-4804-AE5A-5DEC7CBA50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523999"/>
            <a:ext cx="6172200" cy="45748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64EE1B-6CAC-42A1-869F-79FA2C9400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524000"/>
            <a:ext cx="4114800" cy="45748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1D8CE2-9FF8-4ACE-E6F7-C34CC7FD4D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870BB4D-683F-4BE4-9264-B05BE7781C96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77C515B-FCDC-A9A5-25AB-92F64520D3F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Private &amp; Confidential</a:t>
            </a:r>
            <a:endParaRPr lang="en-GB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B82050-C82C-109C-7B25-176C0DE52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758" y="685097"/>
            <a:ext cx="10783556" cy="6143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8719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410E14-5E4B-E2CC-51AF-91DB44C25A1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 sz="1800">
                <a:solidFill>
                  <a:srgbClr val="FFFFFF"/>
                </a:solidFill>
                <a:latin typeface="Cairo" panose="00000800000000000000" pitchFamily="2" charset="-78"/>
                <a:cs typeface="Cairo" panose="00000800000000000000" pitchFamily="2" charset="-78"/>
              </a:rPr>
              <a:t>Private &amp; Confidential</a:t>
            </a:r>
            <a:endParaRPr lang="en-GB" sz="1800" dirty="0">
              <a:solidFill>
                <a:srgbClr val="FFFFFF"/>
              </a:solidFill>
              <a:latin typeface="Cairo" panose="00000800000000000000" pitchFamily="2" charset="-78"/>
              <a:cs typeface="Cairo" panose="000008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330718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7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trees in a field with Avenue of the Baobabs in the background&#10;&#10;Description automatically generated with low confidence">
            <a:extLst>
              <a:ext uri="{FF2B5EF4-FFF2-40B4-BE49-F238E27FC236}">
                <a16:creationId xmlns:a16="http://schemas.microsoft.com/office/drawing/2014/main" id="{CDDD22C7-6321-34D0-5B02-97AE2B1EF91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7F00E39-CE58-492F-99A1-5C4F968636A1}"/>
              </a:ext>
            </a:extLst>
          </p:cNvPr>
          <p:cNvSpPr/>
          <p:nvPr userDrawn="1"/>
        </p:nvSpPr>
        <p:spPr bwMode="auto">
          <a:xfrm>
            <a:off x="0" y="-1"/>
            <a:ext cx="12192001" cy="6858000"/>
          </a:xfrm>
          <a:prstGeom prst="rect">
            <a:avLst/>
          </a:prstGeom>
          <a:solidFill>
            <a:srgbClr val="240B60">
              <a:alpha val="34902"/>
            </a:srgbClr>
          </a:solidFill>
          <a:ln w="25400" cap="flat" cmpd="sng" algn="ctr">
            <a:noFill/>
            <a:prstDash val="solid"/>
            <a:miter lim="0"/>
            <a:headEnd type="none" w="med" len="med"/>
            <a:tailEnd type="none" w="med" len="med"/>
          </a:ln>
          <a:effectLst>
            <a:outerShdw blurRad="38100" dist="25400" dir="5400000" algn="ctr" rotWithShape="0">
              <a:srgbClr val="000000">
                <a:alpha val="50000"/>
              </a:srgbClr>
            </a:outerShdw>
          </a:effectLst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22860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3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iro Medium" pitchFamily="2" charset="-78"/>
              <a:ea typeface="Helvetica Light" charset="0"/>
              <a:cs typeface="Cairo Medium" pitchFamily="2" charset="-78"/>
              <a:sym typeface="Helvetica Light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5CCCD4C-9E14-4947-9015-028A492D4646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286500" y="4711329"/>
            <a:ext cx="5617330" cy="0"/>
          </a:xfrm>
          <a:prstGeom prst="line">
            <a:avLst/>
          </a:prstGeom>
          <a:blipFill dpi="0" rotWithShape="0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0" sx="100000" sy="100000" flip="none" algn="tl"/>
          </a:blipFill>
          <a:ln w="25400" cap="flat" cmpd="sng" algn="ctr">
            <a:solidFill>
              <a:srgbClr val="FFCE42"/>
            </a:solidFill>
            <a:prstDash val="solid"/>
            <a:miter lim="0"/>
            <a:headEnd type="none" w="med" len="med"/>
            <a:tailEnd type="none" w="med" len="med"/>
          </a:ln>
          <a:effectLst>
            <a:outerShdw blurRad="38100" dist="25400" dir="5400000" algn="ctr" rotWithShape="0">
              <a:srgbClr val="000000">
                <a:alpha val="50000"/>
              </a:srgbClr>
            </a:outerShdw>
          </a:effectLst>
        </p:spPr>
      </p:cxnSp>
      <p:sp>
        <p:nvSpPr>
          <p:cNvPr id="23" name="Title Placeholder 1">
            <a:extLst>
              <a:ext uri="{FF2B5EF4-FFF2-40B4-BE49-F238E27FC236}">
                <a16:creationId xmlns:a16="http://schemas.microsoft.com/office/drawing/2014/main" id="{05BAA2CE-4ED2-4645-8C83-B99087940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2690" y="3058025"/>
            <a:ext cx="572114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86AE6B8-D685-CC44-94CA-5D3AF0FE9E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2977" y="631031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600">
                <a:solidFill>
                  <a:schemeClr val="bg1"/>
                </a:solidFill>
                <a:latin typeface="Cairo" pitchFamily="2" charset="-78"/>
                <a:cs typeface="Cairo" pitchFamily="2" charset="-78"/>
              </a:defRPr>
            </a:lvl1pPr>
          </a:lstStyle>
          <a:p>
            <a:r>
              <a:rPr lang="en-GB"/>
              <a:t>Private &amp; Confidential</a:t>
            </a:r>
            <a:endParaRPr lang="en-GB" dirty="0"/>
          </a:p>
        </p:txBody>
      </p:sp>
      <p:pic>
        <p:nvPicPr>
          <p:cNvPr id="2" name="Picture 1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EC75D72B-112E-65DD-7B86-4807995302F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3952" y="-86403"/>
            <a:ext cx="7447146" cy="2980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884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</p:sldLayoutIdLst>
  <p:hf hd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bg1"/>
          </a:solidFill>
          <a:latin typeface="Cairo" panose="00000800000000000000" pitchFamily="2" charset="-78"/>
          <a:ea typeface="+mj-ea"/>
          <a:cs typeface="Cairo" panose="00000800000000000000" pitchFamily="2" charset="-78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trees in a field with Avenue of the Baobabs in the background&#10;&#10;Description automatically generated with low confidence">
            <a:extLst>
              <a:ext uri="{FF2B5EF4-FFF2-40B4-BE49-F238E27FC236}">
                <a16:creationId xmlns:a16="http://schemas.microsoft.com/office/drawing/2014/main" id="{CDDD22C7-6321-34D0-5B02-97AE2B1EF91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7F00E39-CE58-492F-99A1-5C4F968636A1}"/>
              </a:ext>
            </a:extLst>
          </p:cNvPr>
          <p:cNvSpPr/>
          <p:nvPr userDrawn="1"/>
        </p:nvSpPr>
        <p:spPr bwMode="auto">
          <a:xfrm>
            <a:off x="0" y="-1"/>
            <a:ext cx="12192001" cy="6858000"/>
          </a:xfrm>
          <a:prstGeom prst="rect">
            <a:avLst/>
          </a:prstGeom>
          <a:solidFill>
            <a:srgbClr val="240B60">
              <a:alpha val="34902"/>
            </a:srgbClr>
          </a:solidFill>
          <a:ln w="25400" cap="flat" cmpd="sng" algn="ctr">
            <a:noFill/>
            <a:prstDash val="solid"/>
            <a:miter lim="0"/>
            <a:headEnd type="none" w="med" len="med"/>
            <a:tailEnd type="none" w="med" len="med"/>
          </a:ln>
          <a:effectLst>
            <a:outerShdw blurRad="38100" dist="25400" dir="5400000" algn="ctr" rotWithShape="0">
              <a:srgbClr val="000000">
                <a:alpha val="50000"/>
              </a:srgbClr>
            </a:outerShdw>
          </a:effectLst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22860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3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iro Medium" pitchFamily="2" charset="-78"/>
              <a:ea typeface="Helvetica Light" charset="0"/>
              <a:cs typeface="Cairo Medium" pitchFamily="2" charset="-78"/>
              <a:sym typeface="Helvetica Light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5CCCD4C-9E14-4947-9015-028A492D4646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286500" y="4711329"/>
            <a:ext cx="5617330" cy="0"/>
          </a:xfrm>
          <a:prstGeom prst="line">
            <a:avLst/>
          </a:prstGeom>
          <a:blipFill dpi="0" rotWithShape="0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0" sx="100000" sy="100000" flip="none" algn="tl"/>
          </a:blipFill>
          <a:ln w="25400" cap="flat" cmpd="sng" algn="ctr">
            <a:solidFill>
              <a:srgbClr val="FFCE42"/>
            </a:solidFill>
            <a:prstDash val="solid"/>
            <a:miter lim="0"/>
            <a:headEnd type="none" w="med" len="med"/>
            <a:tailEnd type="none" w="med" len="med"/>
          </a:ln>
          <a:effectLst>
            <a:outerShdw blurRad="38100" dist="25400" dir="5400000" algn="ctr" rotWithShape="0">
              <a:srgbClr val="000000">
                <a:alpha val="50000"/>
              </a:srgbClr>
            </a:outerShdw>
          </a:effectLst>
        </p:spPr>
      </p:cxnSp>
      <p:sp>
        <p:nvSpPr>
          <p:cNvPr id="23" name="Title Placeholder 1">
            <a:extLst>
              <a:ext uri="{FF2B5EF4-FFF2-40B4-BE49-F238E27FC236}">
                <a16:creationId xmlns:a16="http://schemas.microsoft.com/office/drawing/2014/main" id="{05BAA2CE-4ED2-4645-8C83-B99087940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2690" y="3058025"/>
            <a:ext cx="572114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86AE6B8-D685-CC44-94CA-5D3AF0FE9E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2977" y="631031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600">
                <a:solidFill>
                  <a:schemeClr val="bg1"/>
                </a:solidFill>
                <a:latin typeface="Cairo" pitchFamily="2" charset="-78"/>
                <a:cs typeface="Cairo" pitchFamily="2" charset="-78"/>
              </a:defRPr>
            </a:lvl1pPr>
          </a:lstStyle>
          <a:p>
            <a:r>
              <a:rPr lang="en-GB"/>
              <a:t>Private &amp; Confidential</a:t>
            </a:r>
            <a:endParaRPr lang="en-GB" dirty="0"/>
          </a:p>
        </p:txBody>
      </p:sp>
      <p:pic>
        <p:nvPicPr>
          <p:cNvPr id="2" name="Picture 1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EC75D72B-112E-65DD-7B86-4807995302F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3952" y="-86403"/>
            <a:ext cx="7447146" cy="2980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429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</p:sldLayoutIdLst>
  <p:hf hd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bg1"/>
          </a:solidFill>
          <a:latin typeface="Cairo" panose="00000800000000000000" pitchFamily="2" charset="-78"/>
          <a:ea typeface="+mj-ea"/>
          <a:cs typeface="Cairo" panose="00000800000000000000" pitchFamily="2" charset="-78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outdoor, sky, cloud, landscape&#10;&#10;Description automatically generated">
            <a:extLst>
              <a:ext uri="{FF2B5EF4-FFF2-40B4-BE49-F238E27FC236}">
                <a16:creationId xmlns:a16="http://schemas.microsoft.com/office/drawing/2014/main" id="{3B5CDC08-E78B-03A5-0597-E5157A88B2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7"/>
          <a:stretch/>
        </p:blipFill>
        <p:spPr>
          <a:xfrm flipH="1">
            <a:off x="-3" y="0"/>
            <a:ext cx="4310742" cy="685786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7F00E39-CE58-492F-99A1-5C4F968636A1}"/>
              </a:ext>
            </a:extLst>
          </p:cNvPr>
          <p:cNvSpPr/>
          <p:nvPr userDrawn="1"/>
        </p:nvSpPr>
        <p:spPr bwMode="auto">
          <a:xfrm>
            <a:off x="0" y="0"/>
            <a:ext cx="4310740" cy="6858000"/>
          </a:xfrm>
          <a:prstGeom prst="rect">
            <a:avLst/>
          </a:prstGeom>
          <a:solidFill>
            <a:srgbClr val="240B60">
              <a:alpha val="50196"/>
            </a:srgbClr>
          </a:solidFill>
          <a:ln w="25400" cap="flat" cmpd="sng" algn="ctr">
            <a:noFill/>
            <a:prstDash val="solid"/>
            <a:miter lim="0"/>
            <a:headEnd type="none" w="med" len="med"/>
            <a:tailEnd type="none" w="med" len="med"/>
          </a:ln>
          <a:effectLst>
            <a:outerShdw blurRad="38100" dist="25400" dir="5400000" algn="ctr" rotWithShape="0">
              <a:srgbClr val="000000">
                <a:alpha val="50000"/>
              </a:srgbClr>
            </a:outerShdw>
          </a:effectLst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22860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3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iro Medium" pitchFamily="2" charset="-78"/>
              <a:ea typeface="Helvetica Light" charset="0"/>
              <a:cs typeface="Cairo Medium" pitchFamily="2" charset="-78"/>
              <a:sym typeface="Helvetica Light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5CCCD4C-9E14-4947-9015-028A492D4646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635567" y="4192583"/>
            <a:ext cx="7556433" cy="0"/>
          </a:xfrm>
          <a:prstGeom prst="line">
            <a:avLst/>
          </a:prstGeom>
          <a:blipFill dpi="0" rotWithShape="0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0" sx="100000" sy="100000" flip="none" algn="tl"/>
          </a:blipFill>
          <a:ln w="25400" cap="flat" cmpd="sng" algn="ctr">
            <a:solidFill>
              <a:srgbClr val="FFCE42"/>
            </a:solidFill>
            <a:prstDash val="solid"/>
            <a:miter lim="0"/>
            <a:headEnd type="none" w="med" len="med"/>
            <a:tailEnd type="none" w="med" len="med"/>
          </a:ln>
          <a:effectLst>
            <a:outerShdw blurRad="38100" dist="25400" dir="5400000" algn="ctr" rotWithShape="0">
              <a:srgbClr val="000000">
                <a:alpha val="50000"/>
              </a:srgbClr>
            </a:outerShdw>
          </a:effectLst>
        </p:spPr>
      </p:cxnSp>
      <p:sp>
        <p:nvSpPr>
          <p:cNvPr id="23" name="Title Placeholder 1">
            <a:extLst>
              <a:ext uri="{FF2B5EF4-FFF2-40B4-BE49-F238E27FC236}">
                <a16:creationId xmlns:a16="http://schemas.microsoft.com/office/drawing/2014/main" id="{05BAA2CE-4ED2-4645-8C83-B99087940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5567" y="3493700"/>
            <a:ext cx="7556433" cy="66136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97D8803-ED1B-2C60-E1AC-BD7199F552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7968" y="637114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0">
                <a:solidFill>
                  <a:schemeClr val="bg1"/>
                </a:solidFill>
                <a:latin typeface="Cairo" pitchFamily="2" charset="-78"/>
                <a:cs typeface="Cairo" pitchFamily="2" charset="-78"/>
              </a:defRPr>
            </a:lvl1pPr>
          </a:lstStyle>
          <a:p>
            <a:r>
              <a:rPr lang="en-US"/>
              <a:t>Private &amp; Confidential</a:t>
            </a:r>
            <a:endParaRPr lang="en-GB" dirty="0"/>
          </a:p>
        </p:txBody>
      </p:sp>
      <p:pic>
        <p:nvPicPr>
          <p:cNvPr id="6" name="Picture 5" descr="A yellow map in a circle&#10;&#10;Description automatically generated">
            <a:extLst>
              <a:ext uri="{FF2B5EF4-FFF2-40B4-BE49-F238E27FC236}">
                <a16:creationId xmlns:a16="http://schemas.microsoft.com/office/drawing/2014/main" id="{F2A9F739-503A-9464-7588-814496229F5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71" y="1140010"/>
            <a:ext cx="4215393" cy="4279401"/>
          </a:xfrm>
          <a:prstGeom prst="rect">
            <a:avLst/>
          </a:prstGeom>
        </p:spPr>
      </p:pic>
      <p:pic>
        <p:nvPicPr>
          <p:cNvPr id="9" name="Picture 8" descr="A black background with blue text&#10;&#10;Description automatically generated">
            <a:extLst>
              <a:ext uri="{FF2B5EF4-FFF2-40B4-BE49-F238E27FC236}">
                <a16:creationId xmlns:a16="http://schemas.microsoft.com/office/drawing/2014/main" id="{8C2E7AC6-87E3-1953-639B-14EFD5399E1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17" t="16729" r="5700" b="18523"/>
          <a:stretch/>
        </p:blipFill>
        <p:spPr>
          <a:xfrm>
            <a:off x="8795662" y="5789410"/>
            <a:ext cx="3396338" cy="1001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536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8" r:id="rId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rgbClr val="240B60"/>
          </a:solidFill>
          <a:latin typeface="Cairo" panose="00000800000000000000" pitchFamily="2" charset="-78"/>
          <a:ea typeface="+mj-ea"/>
          <a:cs typeface="Cairo" panose="00000800000000000000" pitchFamily="2" charset="-78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A black background with blue text&#10;&#10;Description automatically generated">
            <a:extLst>
              <a:ext uri="{FF2B5EF4-FFF2-40B4-BE49-F238E27FC236}">
                <a16:creationId xmlns:a16="http://schemas.microsoft.com/office/drawing/2014/main" id="{984A669B-A943-0719-36BE-622F2C1213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41" t="-189" r="668" b="-122"/>
          <a:stretch/>
        </p:blipFill>
        <p:spPr>
          <a:xfrm>
            <a:off x="6534887" y="-286656"/>
            <a:ext cx="6933334" cy="714465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0C29E46-F416-4CF1-A43D-B28EA939B133}"/>
              </a:ext>
            </a:extLst>
          </p:cNvPr>
          <p:cNvSpPr/>
          <p:nvPr userDrawn="1"/>
        </p:nvSpPr>
        <p:spPr bwMode="auto">
          <a:xfrm rot="5400000">
            <a:off x="5797360" y="463360"/>
            <a:ext cx="597281" cy="12191999"/>
          </a:xfrm>
          <a:prstGeom prst="rect">
            <a:avLst/>
          </a:prstGeom>
          <a:solidFill>
            <a:srgbClr val="240B60"/>
          </a:solidFill>
          <a:ln w="25400" cap="flat" cmpd="sng" algn="ctr">
            <a:noFill/>
            <a:prstDash val="solid"/>
            <a:miter lim="0"/>
            <a:headEnd type="none" w="med" len="med"/>
            <a:tailEnd type="none" w="med" len="med"/>
          </a:ln>
          <a:effectLst>
            <a:outerShdw blurRad="38100" dist="25400" dir="5400000" algn="ctr" rotWithShape="0">
              <a:srgbClr val="000000">
                <a:alpha val="50000"/>
              </a:srgbClr>
            </a:outerShdw>
          </a:effectLst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22860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3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iro Medium" pitchFamily="2" charset="-78"/>
              <a:ea typeface="Helvetica Light" charset="0"/>
              <a:cs typeface="Cairo Medium" pitchFamily="2" charset="-78"/>
              <a:sym typeface="Helvetica Light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3D4113-4427-4070-BFB9-7A0D39FC5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433" y="681781"/>
            <a:ext cx="10765134" cy="6143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B582696-EC66-7A59-CC53-6A8C99AF8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398" y="637679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fld id="{2870BB4D-683F-4BE4-9264-B05BE7781C96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88186B2-AFF8-D1DD-9C8E-C43D3B9038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063" y="6370377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  <a:latin typeface="Cairo" pitchFamily="2" charset="-78"/>
                <a:cs typeface="Cairo" pitchFamily="2" charset="-78"/>
              </a:defRPr>
            </a:lvl1pPr>
          </a:lstStyle>
          <a:p>
            <a:r>
              <a:rPr lang="en-GB"/>
              <a:t>Private &amp; Confidential</a:t>
            </a:r>
            <a:endParaRPr lang="en-GB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F42D082-820C-43EF-034A-243CA7B04BC1}"/>
              </a:ext>
            </a:extLst>
          </p:cNvPr>
          <p:cNvCxnSpPr/>
          <p:nvPr userDrawn="1"/>
        </p:nvCxnSpPr>
        <p:spPr>
          <a:xfrm>
            <a:off x="713433" y="1256044"/>
            <a:ext cx="10781881" cy="0"/>
          </a:xfrm>
          <a:prstGeom prst="line">
            <a:avLst/>
          </a:prstGeom>
          <a:ln w="34925">
            <a:solidFill>
              <a:srgbClr val="FFCE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01E27C56-084E-6158-89D1-5A25E5113AD9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0" t="17046" r="6737" b="12824"/>
          <a:stretch/>
        </p:blipFill>
        <p:spPr>
          <a:xfrm>
            <a:off x="10117317" y="6260719"/>
            <a:ext cx="2006431" cy="64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213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7" r:id="rId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rgbClr val="240B60"/>
          </a:solidFill>
          <a:latin typeface="Cairo Medium" pitchFamily="2" charset="-78"/>
          <a:ea typeface="+mj-ea"/>
          <a:cs typeface="Cairo Medium" pitchFamily="2" charset="-78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240B60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venir Next LT Pro" panose="020B05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40B60"/>
        </a:buClr>
        <a:buSzPct val="60000"/>
        <a:buFont typeface="Courier New" panose="02070309020205020404" pitchFamily="49" charset="0"/>
        <a:buChar char="o"/>
        <a:defRPr sz="2400" kern="1200">
          <a:solidFill>
            <a:schemeClr val="tx1"/>
          </a:solidFill>
          <a:latin typeface="Avenir Next LT Pro" panose="020B05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40B60"/>
        </a:buClr>
        <a:buSzPct val="8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venir Next LT Pro" panose="020B05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40B60"/>
        </a:buClr>
        <a:buSzPct val="50000"/>
        <a:buFont typeface="Calibri" panose="020F0502020204030204" pitchFamily="34" charset="0"/>
        <a:buChar char="□"/>
        <a:defRPr sz="1800" kern="1200">
          <a:solidFill>
            <a:schemeClr val="tx1"/>
          </a:solidFill>
          <a:latin typeface="Avenir Next LT Pro" panose="020B05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40B60"/>
        </a:buClr>
        <a:buFont typeface="Calibri" panose="020F0502020204030204" pitchFamily="34" charset="0"/>
        <a:buChar char="–"/>
        <a:defRPr sz="1800" kern="1200">
          <a:solidFill>
            <a:schemeClr val="tx1"/>
          </a:solidFill>
          <a:latin typeface="Avenir Next LT Pro" panose="020B05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39C711A-5103-EB6E-87C1-5CDE68C49EEE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240B60"/>
          </a:solidFill>
          <a:ln w="25400" cap="flat" cmpd="sng" algn="ctr">
            <a:noFill/>
            <a:prstDash val="solid"/>
            <a:miter lim="0"/>
            <a:headEnd type="none" w="med" len="med"/>
            <a:tailEnd type="none" w="med" len="med"/>
          </a:ln>
          <a:effectLst>
            <a:outerShdw blurRad="38100" dist="25400" dir="5400000" algn="ctr" rotWithShape="0">
              <a:srgbClr val="000000">
                <a:alpha val="50000"/>
              </a:srgbClr>
            </a:outerShdw>
          </a:effectLst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228600" marR="0" lvl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iro Medium" pitchFamily="2" charset="-78"/>
              <a:ea typeface="Helvetica Light" charset="0"/>
              <a:cs typeface="Cairo Medium" pitchFamily="2" charset="-78"/>
              <a:sym typeface="Helvetica Light" charset="0"/>
            </a:endParaRP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15FB1AF6-3A3A-0133-5F14-44D61FF3A8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GB" sz="1800">
                <a:solidFill>
                  <a:srgbClr val="FFFFFF"/>
                </a:solidFill>
                <a:latin typeface="Cairo" panose="00000800000000000000" pitchFamily="2" charset="-78"/>
                <a:cs typeface="Cairo" panose="00000800000000000000" pitchFamily="2" charset="-78"/>
              </a:rPr>
              <a:t>Private &amp; Confidential</a:t>
            </a:r>
            <a:endParaRPr lang="en-GB" sz="1800" dirty="0">
              <a:solidFill>
                <a:srgbClr val="FFFFFF"/>
              </a:solidFill>
              <a:latin typeface="Cairo" panose="00000800000000000000" pitchFamily="2" charset="-78"/>
              <a:cs typeface="Cairo" panose="00000800000000000000" pitchFamily="2" charset="-78"/>
            </a:endParaRPr>
          </a:p>
        </p:txBody>
      </p:sp>
      <p:pic>
        <p:nvPicPr>
          <p:cNvPr id="5" name="Picture 4" descr="A yellow map in a circle&#10;&#10;Description automatically generated">
            <a:extLst>
              <a:ext uri="{FF2B5EF4-FFF2-40B4-BE49-F238E27FC236}">
                <a16:creationId xmlns:a16="http://schemas.microsoft.com/office/drawing/2014/main" id="{BA04368A-9989-5DF7-3E72-15F9084A84B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74" t="19986" r="17359" b="18698"/>
          <a:stretch/>
        </p:blipFill>
        <p:spPr>
          <a:xfrm>
            <a:off x="4151086" y="1306286"/>
            <a:ext cx="4002314" cy="4020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503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rgbClr val="240B60"/>
          </a:solidFill>
          <a:latin typeface="Cairo" panose="00000800000000000000" pitchFamily="2" charset="-78"/>
          <a:ea typeface="+mj-ea"/>
          <a:cs typeface="Cairo" panose="00000800000000000000" pitchFamily="2" charset="-78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A27084E-ABB9-44FA-7331-AA8D4EAA7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852" y="2060817"/>
            <a:ext cx="6296660" cy="2418828"/>
          </a:xfrm>
        </p:spPr>
        <p:txBody>
          <a:bodyPr/>
          <a:lstStyle/>
          <a:p>
            <a:pPr algn="ctr"/>
            <a:r>
              <a:rPr lang="en-US" b="1" dirty="0"/>
              <a:t>Drought Risk Analysis for Africa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D4AC55-FB2E-527A-CB7C-4E22E3333D3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/>
              <a:t>June 2026</a:t>
            </a:r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CD1BDAF-0FAF-1946-4345-FCAF966148C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Private &amp; Confidential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60068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D4548BA-1000-D124-BC8F-AF25D529454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38779" y="361485"/>
            <a:ext cx="7402513" cy="1133389"/>
          </a:xfrm>
        </p:spPr>
        <p:txBody>
          <a:bodyPr/>
          <a:lstStyle/>
          <a:p>
            <a:pPr algn="ctr">
              <a:lnSpc>
                <a:spcPct val="100000"/>
              </a:lnSpc>
            </a:pPr>
            <a:r>
              <a:rPr lang="en-US" sz="3200" b="1" dirty="0"/>
              <a:t>“To enable a "Cross-Continental Spread" of risk”</a:t>
            </a:r>
            <a:endParaRPr lang="en-GB" sz="32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6ABFD06-97D7-18E2-2F0A-1EF5BF0E7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617" y="292345"/>
            <a:ext cx="3132362" cy="731792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Objective: 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71EA2F-B855-4EE6-84F4-A4578BB28C8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Private &amp; Confidential</a:t>
            </a: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92DC7E-1113-B9F3-2DD7-C6695657793C}"/>
              </a:ext>
            </a:extLst>
          </p:cNvPr>
          <p:cNvSpPr txBox="1"/>
          <p:nvPr/>
        </p:nvSpPr>
        <p:spPr>
          <a:xfrm>
            <a:off x="4604470" y="1601413"/>
            <a:ext cx="18283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i="0" dirty="0">
                <a:effectLst/>
              </a:rPr>
              <a:t>Problem</a:t>
            </a:r>
            <a:r>
              <a:rPr lang="en-GB" sz="2800" b="1" i="0" dirty="0">
                <a:effectLst/>
              </a:rPr>
              <a:t>:</a:t>
            </a:r>
            <a:endParaRPr lang="en-GB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CA7E44-0A38-E2D9-F74D-04FA9B32E37F}"/>
              </a:ext>
            </a:extLst>
          </p:cNvPr>
          <p:cNvSpPr txBox="1"/>
          <p:nvPr/>
        </p:nvSpPr>
        <p:spPr>
          <a:xfrm>
            <a:off x="4577286" y="2283959"/>
            <a:ext cx="736400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dirty="0">
                <a:effectLst/>
              </a:rPr>
              <a:t>A single Drought event can trigger simultaneous payouts across multiple districts.</a:t>
            </a:r>
            <a:endParaRPr lang="en-GB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2C3938-FE0C-2005-B722-F98E4B7741E4}"/>
              </a:ext>
            </a:extLst>
          </p:cNvPr>
          <p:cNvSpPr txBox="1"/>
          <p:nvPr/>
        </p:nvSpPr>
        <p:spPr>
          <a:xfrm>
            <a:off x="4557828" y="3502128"/>
            <a:ext cx="19826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i="0" dirty="0">
                <a:effectLst/>
              </a:rPr>
              <a:t>Solution:</a:t>
            </a:r>
            <a:endParaRPr lang="en-GB" sz="3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5F04C27-E883-B9F8-8005-075D108BC149}"/>
              </a:ext>
            </a:extLst>
          </p:cNvPr>
          <p:cNvSpPr txBox="1"/>
          <p:nvPr/>
        </p:nvSpPr>
        <p:spPr>
          <a:xfrm>
            <a:off x="4557828" y="4162797"/>
            <a:ext cx="7402513" cy="120032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just"/>
            <a:r>
              <a:rPr lang="en-US" sz="2400" b="1" i="0" dirty="0">
                <a:effectLst/>
              </a:rPr>
              <a:t>Identifying "Uncorrelated Regions." By insuring districts that do not fail at the same time, the insurance fund maintains financial stability.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140503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A9E773-93EF-0886-12B4-80513EEDAC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835" y="1593259"/>
            <a:ext cx="10918325" cy="3671482"/>
          </a:xfrm>
          <a:noFill/>
        </p:spPr>
        <p:txBody>
          <a:bodyPr/>
          <a:lstStyle/>
          <a:p>
            <a:pPr algn="just"/>
            <a:r>
              <a:rPr lang="en-US" sz="2400" dirty="0"/>
              <a:t>Global Administrative Areas (GADM 4.1) Administrative Level districts.</a:t>
            </a:r>
          </a:p>
          <a:p>
            <a:pPr algn="just"/>
            <a:endParaRPr lang="en-US" sz="1000" dirty="0"/>
          </a:p>
          <a:p>
            <a:pPr algn="just"/>
            <a:r>
              <a:rPr lang="en-US" sz="2400" dirty="0"/>
              <a:t>Global Land Analysis and Discovery (GLAD) - 30m - Landsat time series.</a:t>
            </a:r>
          </a:p>
          <a:p>
            <a:pPr algn="just"/>
            <a:endParaRPr lang="en-US" sz="1000" dirty="0"/>
          </a:p>
          <a:p>
            <a:pPr algn="just"/>
            <a:r>
              <a:rPr lang="en-US" sz="2400" dirty="0"/>
              <a:t>Centroid-based spatial joining ensures we capture the core climatic profile of every district.</a:t>
            </a:r>
          </a:p>
          <a:p>
            <a:pPr algn="just"/>
            <a:endParaRPr lang="en-US" sz="1000" dirty="0"/>
          </a:p>
          <a:p>
            <a:pPr algn="just"/>
            <a:r>
              <a:rPr lang="en-US" sz="2400" dirty="0"/>
              <a:t>The Maize Focus: Utilizing GEOGLAM Maize 1 - 5km calendars to isolate the primary growing season for maximum impact (Group on Earth Observations Global Agricultural Monitoring, 2024).</a:t>
            </a:r>
            <a:endParaRPr lang="en-GB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253579-0F7C-06C0-E235-24FC0F7F30C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Private &amp; Confidential</a:t>
            </a:r>
            <a:endParaRPr lang="en-GB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3713CD6-8D23-5B6D-7D7E-1B9AC0DFF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674" y="344521"/>
            <a:ext cx="6816126" cy="768490"/>
          </a:xfrm>
        </p:spPr>
        <p:txBody>
          <a:bodyPr>
            <a:noAutofit/>
          </a:bodyPr>
          <a:lstStyle/>
          <a:p>
            <a:r>
              <a:rPr lang="en-GB" b="1" dirty="0">
                <a:latin typeface="Avenir Next LT Pro" panose="020B0504020202020204" pitchFamily="34" charset="0"/>
              </a:rPr>
              <a:t>Area of Interest</a:t>
            </a:r>
            <a:endParaRPr lang="en-GB" dirty="0">
              <a:latin typeface="Avenir Next LT Pro" panose="020B05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EFE1E86-9F76-E758-14AC-F122A11EE7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870BB4D-683F-4BE4-9264-B05BE7781C96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2522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9CD87F-3AB2-4D0C-DC84-1675FDB8EF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85" y="1094951"/>
            <a:ext cx="5472615" cy="5030075"/>
          </a:xfrm>
          <a:solidFill>
            <a:schemeClr val="bg1"/>
          </a:solidFill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400" dirty="0"/>
              <a:t>Z-Score Standardization: Converts raw moisture data into probability-based Z-scores (</a:t>
            </a:r>
            <a:r>
              <a:rPr lang="en-GB" sz="2400" dirty="0" err="1"/>
              <a:t>AghaKouchak</a:t>
            </a:r>
            <a:r>
              <a:rPr lang="en-GB" sz="2400" dirty="0"/>
              <a:t>, 2014).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400" dirty="0"/>
              <a:t>Historical Baseline: Establishes a 25-year moisture record for every specific day of the year.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400" dirty="0"/>
              <a:t>Gamma Fitting: Models data using Gamma curves to handle non-negative, right-skewed distributions.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400" dirty="0"/>
              <a:t>Normal Mapping: Maps current percentiles to a Standard Normal SSI for universal risk assessment.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C55725-0ABF-3C67-BECE-44030874B0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870BB4D-683F-4BE4-9264-B05BE7781C96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1A2816-0F8C-A8F8-E5FD-B34982D730D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 dirty="0"/>
              <a:t>Private &amp; Confidential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4D6E3BB-D252-517E-2845-1F8867778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586" y="331477"/>
            <a:ext cx="11725413" cy="708605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GB" dirty="0">
                <a:latin typeface="Avenir Next LT Pro" panose="020B0504020202020204" pitchFamily="34" charset="0"/>
              </a:rPr>
              <a:t>Standardized Soil Moisture Index (SSI)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1177A4C-FA55-A7EA-C0A8-3CB664A97C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67" t="5679" r="15644" b="7066"/>
          <a:stretch>
            <a:fillRect/>
          </a:stretch>
        </p:blipFill>
        <p:spPr>
          <a:xfrm>
            <a:off x="5486400" y="1226418"/>
            <a:ext cx="6691815" cy="186784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E2743F7-B250-0F23-6057-55898CBFE8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0" t="7438" r="15288" b="8251"/>
          <a:stretch>
            <a:fillRect/>
          </a:stretch>
        </p:blipFill>
        <p:spPr>
          <a:xfrm>
            <a:off x="5486400" y="3557667"/>
            <a:ext cx="6691816" cy="2384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82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59D4A10-8E53-F77D-65F5-B2F5B9FE40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7856" y="1409727"/>
            <a:ext cx="11100872" cy="4517348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sz="2400" dirty="0"/>
              <a:t>Visualizing Two Decades of Drought Evolution.</a:t>
            </a:r>
          </a:p>
          <a:p>
            <a:pPr algn="just">
              <a:lnSpc>
                <a:spcPct val="100000"/>
              </a:lnSpc>
            </a:pPr>
            <a:endParaRPr lang="en-US" sz="2400" dirty="0"/>
          </a:p>
          <a:p>
            <a:pPr algn="just"/>
            <a:r>
              <a:rPr lang="en-US" sz="2400" dirty="0"/>
              <a:t>Cumulative "Drought Days" per season per district.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The Threshold: SSI ≤ -1.0 (WMO, 2012; McKee, </a:t>
            </a:r>
            <a:r>
              <a:rPr lang="en-US" sz="2400" dirty="0" err="1"/>
              <a:t>Doesken</a:t>
            </a:r>
            <a:r>
              <a:rPr lang="en-US" sz="2400" dirty="0"/>
              <a:t> and Kleist, 1993).</a:t>
            </a:r>
          </a:p>
          <a:p>
            <a:pPr marL="0" indent="0" algn="just">
              <a:buNone/>
            </a:pPr>
            <a:endParaRPr lang="en-US" sz="2400" dirty="0"/>
          </a:p>
          <a:p>
            <a:pPr algn="just"/>
            <a:r>
              <a:rPr lang="en-US" sz="2400" dirty="0"/>
              <a:t>Risk Window: Ignores the first 25% of the season. This ensures we only count drought during the critical flowering and grain-fill stages where maize is most vulnerable.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459A24-1ECF-0BA2-2766-71A077F76F9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870BB4D-683F-4BE4-9264-B05BE7781C96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BE27B1-3667-D928-3817-67E249F68E0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Private &amp; Confidential</a:t>
            </a:r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7D42918-28EE-288D-817D-7391FFE17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652" y="323530"/>
            <a:ext cx="10784448" cy="837054"/>
          </a:xfrm>
        </p:spPr>
        <p:txBody>
          <a:bodyPr>
            <a:noAutofit/>
          </a:bodyPr>
          <a:lstStyle/>
          <a:p>
            <a:pPr algn="just"/>
            <a:r>
              <a:rPr lang="en-GB" dirty="0">
                <a:latin typeface="Avenir Next LT Pro" panose="020B0504020202020204" pitchFamily="34" charset="0"/>
              </a:rPr>
              <a:t>25-Year: Historic Stress</a:t>
            </a:r>
          </a:p>
        </p:txBody>
      </p:sp>
    </p:spTree>
    <p:extLst>
      <p:ext uri="{BB962C8B-B14F-4D97-AF65-F5344CB8AC3E}">
        <p14:creationId xmlns:p14="http://schemas.microsoft.com/office/powerpoint/2010/main" val="4179382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0C46C57-15E4-4AA0-0287-9740DF6390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654" y="1795361"/>
            <a:ext cx="10522857" cy="3240916"/>
          </a:xfrm>
        </p:spPr>
        <p:txBody>
          <a:bodyPr/>
          <a:lstStyle/>
          <a:p>
            <a:pPr algn="just"/>
            <a:r>
              <a:rPr lang="en-US" sz="2400" dirty="0"/>
              <a:t>Computes a Pearson correlation matrix of annual drought days between all district pairs across Africa.</a:t>
            </a:r>
          </a:p>
          <a:p>
            <a:pPr marL="0" indent="0" algn="just">
              <a:buNone/>
            </a:pPr>
            <a:endParaRPr lang="en-US" sz="2400" dirty="0"/>
          </a:p>
          <a:p>
            <a:pPr algn="just"/>
            <a:r>
              <a:rPr lang="en-US" sz="2400" dirty="0"/>
              <a:t>Reveals how large-scale climate drivers sync. drought risk across distant regions.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Diversification opportunities insuring uncorrelated regions lowers the total capital reserves required by the insurer (</a:t>
            </a:r>
            <a:r>
              <a:rPr lang="en-US" sz="2400" dirty="0" err="1"/>
              <a:t>Carrão</a:t>
            </a:r>
            <a:r>
              <a:rPr lang="en-US" sz="2400" dirty="0"/>
              <a:t> et al., 2016).</a:t>
            </a:r>
            <a:endParaRPr lang="en-GB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4519031-10CF-38AA-2C14-9E531C5F98A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870BB4D-683F-4BE4-9264-B05BE7781C96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345DB4-E731-2566-7C45-33435F34E54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Private &amp; Confidential</a:t>
            </a:r>
            <a:endParaRPr lang="en-GB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D6FC34A-5DE6-00B1-1431-55FE1B9F6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631" y="321006"/>
            <a:ext cx="6858367" cy="898193"/>
          </a:xfrm>
        </p:spPr>
        <p:txBody>
          <a:bodyPr>
            <a:noAutofit/>
          </a:bodyPr>
          <a:lstStyle/>
          <a:p>
            <a:r>
              <a:rPr lang="en-GB" b="1" dirty="0">
                <a:latin typeface="Avenir Next LT Pro" panose="020B0504020202020204" pitchFamily="34" charset="0"/>
              </a:rPr>
              <a:t>Correlations</a:t>
            </a:r>
            <a:endParaRPr lang="en-GB" dirty="0">
              <a:latin typeface="Avenir Next LT Pro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92656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1D9FADB-62C8-E280-6245-BA2CBE703E2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870BB4D-683F-4BE4-9264-B05BE7781C96}" type="slidenum">
              <a:rPr lang="en-GB" smtClean="0"/>
              <a:pPr/>
              <a:t>7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78AE5F-4544-44B9-71F5-74A1438F006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Private &amp; Confidential</a:t>
            </a:r>
            <a:endParaRPr lang="en-GB" dirty="0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07002D3D-3A87-E60E-A695-51FF516C5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214" y="172272"/>
            <a:ext cx="10099297" cy="714342"/>
          </a:xfrm>
        </p:spPr>
        <p:txBody>
          <a:bodyPr>
            <a:noAutofit/>
          </a:bodyPr>
          <a:lstStyle/>
          <a:p>
            <a:r>
              <a:rPr lang="en-GB" b="1" dirty="0">
                <a:latin typeface="Avenir Next LT Pro" panose="020B0504020202020204" pitchFamily="34" charset="0"/>
                <a:ea typeface="Cambria Math" panose="02040503050406030204" pitchFamily="18" charset="0"/>
              </a:rPr>
              <a:t>Spatially-Constrained Drought Risk Zones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54F472-AC05-3C44-6022-1EBFA2F8A27C}"/>
              </a:ext>
            </a:extLst>
          </p:cNvPr>
          <p:cNvSpPr txBox="1"/>
          <p:nvPr/>
        </p:nvSpPr>
        <p:spPr>
          <a:xfrm>
            <a:off x="495759" y="920506"/>
            <a:ext cx="11149069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just" fontAlgn="t"/>
            <a:r>
              <a:rPr lang="en-GB" sz="2400" i="1" dirty="0" err="1">
                <a:solidFill>
                  <a:srgbClr val="240B60"/>
                </a:solidFill>
                <a:latin typeface="Avenir Next LT Pro" panose="020B0504020202020204" pitchFamily="34" charset="0"/>
              </a:rPr>
              <a:t>X</a:t>
            </a:r>
            <a:r>
              <a:rPr lang="en-GB" sz="2400" i="1" baseline="-25000" dirty="0" err="1">
                <a:solidFill>
                  <a:srgbClr val="240B60"/>
                </a:solidFill>
                <a:latin typeface="Avenir Next LT Pro" panose="020B0504020202020204" pitchFamily="34" charset="0"/>
              </a:rPr>
              <a:t>combined</a:t>
            </a:r>
            <a:r>
              <a:rPr lang="en-GB" sz="2400" dirty="0">
                <a:solidFill>
                  <a:srgbClr val="240B60"/>
                </a:solidFill>
                <a:latin typeface="Avenir Next LT Pro" panose="020B0504020202020204" pitchFamily="34" charset="0"/>
              </a:rPr>
              <a:t>​=[Weather⋅0.9∥Coordinates⋅0.1]</a:t>
            </a:r>
            <a:endParaRPr lang="en-GB" sz="2000" dirty="0">
              <a:solidFill>
                <a:srgbClr val="240B60"/>
              </a:solidFill>
              <a:latin typeface="Avenir Next LT Pro" panose="020B05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5C2C7DB-E58C-A56A-E5B0-585015C1C0EE}"/>
                  </a:ext>
                </a:extLst>
              </p:cNvPr>
              <p:cNvSpPr txBox="1"/>
              <p:nvPr/>
            </p:nvSpPr>
            <p:spPr>
              <a:xfrm>
                <a:off x="297455" y="1459342"/>
                <a:ext cx="11622796" cy="46542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marL="285750" indent="-285750" algn="just">
                  <a:lnSpc>
                    <a:spcPct val="150000"/>
                  </a:lnSpc>
                  <a:spcAft>
                    <a:spcPts val="525"/>
                  </a:spcAft>
                  <a:buFont typeface="Arial" panose="020B0604020202020204" pitchFamily="34" charset="0"/>
                  <a:buChar char="•"/>
                </a:pPr>
                <a:r>
                  <a:rPr lang="en-GB" sz="2400" b="1" i="0" dirty="0">
                    <a:solidFill>
                      <a:srgbClr val="240B60"/>
                    </a:solidFill>
                    <a:effectLst/>
                    <a:latin typeface="Avenir Next LT Pro" panose="020B0504020202020204" pitchFamily="34" charset="0"/>
                    <a:ea typeface="Cambria Math" panose="02040503050406030204" pitchFamily="18" charset="0"/>
                  </a:rPr>
                  <a:t>Spatial Contiguity:</a:t>
                </a:r>
                <a:r>
                  <a:rPr lang="en-GB" sz="2400" b="0" i="0" dirty="0">
                    <a:solidFill>
                      <a:srgbClr val="240B60"/>
                    </a:solidFill>
                    <a:effectLst/>
                    <a:latin typeface="Avenir Next LT Pro" panose="020B0504020202020204" pitchFamily="34" charset="0"/>
                    <a:ea typeface="Cambria Math" panose="02040503050406030204" pitchFamily="18" charset="0"/>
                  </a:rPr>
                  <a:t> Uses a </a:t>
                </a:r>
                <a:r>
                  <a:rPr lang="en-GB" sz="2400" b="1" i="0" dirty="0">
                    <a:solidFill>
                      <a:srgbClr val="240B60"/>
                    </a:solidFill>
                    <a:effectLst/>
                    <a:latin typeface="Avenir Next LT Pro" panose="020B0504020202020204" pitchFamily="34" charset="0"/>
                    <a:ea typeface="Cambria Math" panose="02040503050406030204" pitchFamily="18" charset="0"/>
                  </a:rPr>
                  <a:t>k-NN graph (k=10)</a:t>
                </a:r>
                <a:r>
                  <a:rPr lang="en-GB" sz="2400" b="0" i="0" dirty="0">
                    <a:solidFill>
                      <a:srgbClr val="240B60"/>
                    </a:solidFill>
                    <a:effectLst/>
                    <a:latin typeface="Avenir Next LT Pro" panose="020B0504020202020204" pitchFamily="34" charset="0"/>
                    <a:ea typeface="Cambria Math" panose="02040503050406030204" pitchFamily="18" charset="0"/>
                  </a:rPr>
                  <a:t> to enforce the </a:t>
                </a:r>
                <a:r>
                  <a:rPr lang="en-GB" sz="2400" b="1" i="0" dirty="0">
                    <a:solidFill>
                      <a:srgbClr val="240B60"/>
                    </a:solidFill>
                    <a:effectLst/>
                    <a:latin typeface="Avenir Next LT Pro" panose="020B0504020202020204" pitchFamily="34" charset="0"/>
                    <a:ea typeface="Cambria Math" panose="02040503050406030204" pitchFamily="18" charset="0"/>
                  </a:rPr>
                  <a:t>REDCAP</a:t>
                </a:r>
                <a:r>
                  <a:rPr lang="en-GB" sz="2400" b="0" i="0" dirty="0">
                    <a:solidFill>
                      <a:srgbClr val="240B60"/>
                    </a:solidFill>
                    <a:effectLst/>
                    <a:latin typeface="Avenir Next LT Pro" panose="020B0504020202020204" pitchFamily="34" charset="0"/>
                    <a:ea typeface="Cambria Math" panose="02040503050406030204" pitchFamily="18" charset="0"/>
                  </a:rPr>
                  <a:t> constraint - ensuring districts only cluster with physical neighbours.</a:t>
                </a:r>
              </a:p>
              <a:p>
                <a:pPr marL="285750" indent="-285750" algn="just">
                  <a:lnSpc>
                    <a:spcPct val="150000"/>
                  </a:lnSpc>
                  <a:spcAft>
                    <a:spcPts val="525"/>
                  </a:spcAft>
                  <a:buFont typeface="Arial" panose="020B0604020202020204" pitchFamily="34" charset="0"/>
                  <a:buChar char="•"/>
                </a:pPr>
                <a:r>
                  <a:rPr lang="en-GB" sz="2400" b="1" i="0" dirty="0">
                    <a:solidFill>
                      <a:srgbClr val="240B60"/>
                    </a:solidFill>
                    <a:effectLst/>
                    <a:latin typeface="Avenir Next LT Pro" panose="020B0504020202020204" pitchFamily="34" charset="0"/>
                    <a:ea typeface="Cambria Math" panose="02040503050406030204" pitchFamily="18" charset="0"/>
                  </a:rPr>
                  <a:t>Regionalization:</a:t>
                </a:r>
                <a:r>
                  <a:rPr lang="en-GB" sz="2400" b="0" i="0" dirty="0">
                    <a:solidFill>
                      <a:srgbClr val="240B60"/>
                    </a:solidFill>
                    <a:effectLst/>
                    <a:latin typeface="Avenir Next LT Pro" panose="020B0504020202020204" pitchFamily="34" charset="0"/>
                    <a:ea typeface="Cambria Math" panose="02040503050406030204" pitchFamily="18" charset="0"/>
                  </a:rPr>
                  <a:t> Implements the </a:t>
                </a:r>
                <a:r>
                  <a:rPr lang="en-GB" sz="2400" b="1" i="0" dirty="0">
                    <a:solidFill>
                      <a:srgbClr val="240B60"/>
                    </a:solidFill>
                    <a:effectLst/>
                    <a:latin typeface="Avenir Next LT Pro" panose="020B0504020202020204" pitchFamily="34" charset="0"/>
                    <a:ea typeface="Cambria Math" panose="02040503050406030204" pitchFamily="18" charset="0"/>
                  </a:rPr>
                  <a:t>Max-P Regions</a:t>
                </a:r>
                <a:r>
                  <a:rPr lang="en-GB" sz="2400" b="0" i="0" dirty="0">
                    <a:solidFill>
                      <a:srgbClr val="240B60"/>
                    </a:solidFill>
                    <a:effectLst/>
                    <a:latin typeface="Avenir Next LT Pro" panose="020B0504020202020204" pitchFamily="34" charset="0"/>
                    <a:ea typeface="Cambria Math" panose="02040503050406030204" pitchFamily="18" charset="0"/>
                  </a:rPr>
                  <a:t> logic (Duque et al., 2012) to transform raw pixel data into manageable insurance territories.</a:t>
                </a:r>
              </a:p>
              <a:p>
                <a:pPr marL="285750" indent="-285750" algn="just">
                  <a:lnSpc>
                    <a:spcPct val="150000"/>
                  </a:lnSpc>
                  <a:spcAft>
                    <a:spcPts val="525"/>
                  </a:spcAft>
                  <a:buFont typeface="Arial" panose="020B0604020202020204" pitchFamily="34" charset="0"/>
                  <a:buChar char="•"/>
                </a:pPr>
                <a:r>
                  <a:rPr lang="en-GB" sz="2400" b="1" i="0" dirty="0">
                    <a:solidFill>
                      <a:srgbClr val="240B60"/>
                    </a:solidFill>
                    <a:effectLst/>
                    <a:latin typeface="Avenir Next LT Pro" panose="020B0504020202020204" pitchFamily="34" charset="0"/>
                    <a:ea typeface="Cambria Math" panose="02040503050406030204" pitchFamily="18" charset="0"/>
                  </a:rPr>
                  <a:t>Optimization:</a:t>
                </a:r>
                <a:r>
                  <a:rPr lang="en-GB" sz="2400" b="0" i="0" dirty="0">
                    <a:solidFill>
                      <a:srgbClr val="240B60"/>
                    </a:solidFill>
                    <a:effectLst/>
                    <a:latin typeface="Avenir Next LT Pro" panose="020B0504020202020204" pitchFamily="34" charset="0"/>
                    <a:ea typeface="Cambria Math" panose="02040503050406030204" pitchFamily="18" charset="0"/>
                  </a:rPr>
                  <a:t> Agglomerative clustering with </a:t>
                </a:r>
                <a:r>
                  <a:rPr lang="en-GB" sz="2400" b="1" i="0" dirty="0">
                    <a:solidFill>
                      <a:srgbClr val="240B60"/>
                    </a:solidFill>
                    <a:effectLst/>
                    <a:latin typeface="Avenir Next LT Pro" panose="020B0504020202020204" pitchFamily="34" charset="0"/>
                    <a:ea typeface="Cambria Math" panose="02040503050406030204" pitchFamily="18" charset="0"/>
                  </a:rPr>
                  <a:t>Ward linkage</a:t>
                </a:r>
                <a:r>
                  <a:rPr lang="en-GB" sz="2400" b="0" i="0" dirty="0">
                    <a:solidFill>
                      <a:srgbClr val="240B60"/>
                    </a:solidFill>
                    <a:effectLst/>
                    <a:latin typeface="Avenir Next LT Pro" panose="020B0504020202020204" pitchFamily="34" charset="0"/>
                    <a:ea typeface="Cambria Math" panose="02040503050406030204" pitchFamily="18" charset="0"/>
                  </a:rPr>
                  <a:t> minimizes internal variance within each drought belt.</a:t>
                </a:r>
              </a:p>
              <a:p>
                <a:pPr marL="285750" indent="-285750" algn="just">
                  <a:lnSpc>
                    <a:spcPct val="150000"/>
                  </a:lnSpc>
                  <a:spcAft>
                    <a:spcPts val="525"/>
                  </a:spcAft>
                  <a:buFont typeface="Arial" panose="020B0604020202020204" pitchFamily="34" charset="0"/>
                  <a:buChar char="•"/>
                </a:pPr>
                <a:r>
                  <a:rPr lang="en-GB" sz="2400" b="1" i="0" dirty="0">
                    <a:solidFill>
                      <a:srgbClr val="240B60"/>
                    </a:solidFill>
                    <a:effectLst/>
                    <a:latin typeface="Avenir Next LT Pro" panose="020B0504020202020204" pitchFamily="34" charset="0"/>
                    <a:ea typeface="Cambria Math" panose="02040503050406030204" pitchFamily="18" charset="0"/>
                  </a:rPr>
                  <a:t>Automated Selection:</a:t>
                </a:r>
                <a:r>
                  <a:rPr lang="en-GB" sz="2400" b="0" i="0" dirty="0">
                    <a:solidFill>
                      <a:srgbClr val="240B60"/>
                    </a:solidFill>
                    <a:effectLst/>
                    <a:latin typeface="Avenir Next LT Pro" panose="020B0504020202020204" pitchFamily="34" charset="0"/>
                    <a:ea typeface="Cambria Math" panose="02040503050406030204" pitchFamily="18" charset="0"/>
                  </a:rPr>
                  <a:t> Optimal cluster count (</a:t>
                </a:r>
                <a14:m>
                  <m:oMath xmlns:m="http://schemas.openxmlformats.org/officeDocument/2006/math">
                    <m:r>
                      <a:rPr lang="en-GB" sz="2400" i="1">
                        <a:solidFill>
                          <a:srgbClr val="240B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  <m:r>
                      <a:rPr lang="en-GB" sz="2400" i="0">
                        <a:solidFill>
                          <a:srgbClr val="240B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GB" sz="2400" b="0" i="0" dirty="0">
                    <a:solidFill>
                      <a:srgbClr val="240B60"/>
                    </a:solidFill>
                    <a:effectLst/>
                    <a:latin typeface="Avenir Next LT Pro" panose="020B0504020202020204" pitchFamily="34" charset="0"/>
                    <a:ea typeface="Cambria Math" panose="02040503050406030204" pitchFamily="18" charset="0"/>
                  </a:rPr>
                  <a:t>) verified via </a:t>
                </a:r>
                <a:r>
                  <a:rPr lang="en-GB" sz="2400" b="1" i="0" dirty="0">
                    <a:solidFill>
                      <a:srgbClr val="240B60"/>
                    </a:solidFill>
                    <a:effectLst/>
                    <a:latin typeface="Avenir Next LT Pro" panose="020B0504020202020204" pitchFamily="34" charset="0"/>
                    <a:ea typeface="Cambria Math" panose="02040503050406030204" pitchFamily="18" charset="0"/>
                  </a:rPr>
                  <a:t>Silhouette Coefficient</a:t>
                </a:r>
                <a:r>
                  <a:rPr lang="en-GB" sz="2400" b="0" i="0" dirty="0">
                    <a:solidFill>
                      <a:srgbClr val="240B60"/>
                    </a:solidFill>
                    <a:effectLst/>
                    <a:latin typeface="Avenir Next LT Pro" panose="020B0504020202020204" pitchFamily="34" charset="0"/>
                    <a:ea typeface="Cambria Math" panose="02040503050406030204" pitchFamily="18" charset="0"/>
                  </a:rPr>
                  <a:t> maximization.</a:t>
                </a: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5C2C7DB-E58C-A56A-E5B0-585015C1C0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455" y="1459342"/>
                <a:ext cx="11622796" cy="4654287"/>
              </a:xfrm>
              <a:prstGeom prst="rect">
                <a:avLst/>
              </a:prstGeom>
              <a:blipFill>
                <a:blip r:embed="rId3"/>
                <a:stretch>
                  <a:fillRect l="-735" r="-839" b="-20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5444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27D18-858F-77C5-D7B5-DCB609200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DC1137-F9F0-D750-AE63-8F6C86521F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870BB4D-683F-4BE4-9264-B05BE7781C96}" type="slidenum">
              <a:rPr lang="en-GB" smtClean="0"/>
              <a:pPr/>
              <a:t>8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6C9836-B816-632D-4F1E-0CB675B554F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Private &amp; Confidential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le 4">
                <a:extLst>
                  <a:ext uri="{FF2B5EF4-FFF2-40B4-BE49-F238E27FC236}">
                    <a16:creationId xmlns:a16="http://schemas.microsoft.com/office/drawing/2014/main" id="{7E9684AA-78C3-0D67-D24B-E2194A566B0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1909" y="72708"/>
                <a:ext cx="12010938" cy="714342"/>
              </a:xfrm>
            </p:spPr>
            <p:txBody>
              <a:bodyPr>
                <a:noAutofit/>
              </a:bodyPr>
              <a:lstStyle/>
              <a:p>
                <a:r>
                  <a:rPr lang="en-GB" b="1" dirty="0">
                    <a:latin typeface="Avenir Next LT Pro" panose="020B0504020202020204" pitchFamily="34" charset="0"/>
                    <a:ea typeface="Cambria Math" panose="02040503050406030204" pitchFamily="18" charset="0"/>
                  </a:rPr>
                  <a:t>Spatially-Constrained</a:t>
                </a:r>
                <a:r>
                  <a:rPr lang="en-GB" sz="3200" b="1" dirty="0">
                    <a:latin typeface="Avenir Next LT Pro" panose="020B0504020202020204" pitchFamily="34" charset="0"/>
                    <a:ea typeface="Cambria Math" panose="02040503050406030204" pitchFamily="18" charset="0"/>
                  </a:rPr>
                  <a:t> Drought Risk Zones (</a:t>
                </a:r>
                <a14:m>
                  <m:oMath xmlns:m="http://schemas.openxmlformats.org/officeDocument/2006/math">
                    <m:r>
                      <a:rPr lang="en-GB" sz="3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𝝀</m:t>
                    </m:r>
                    <m:r>
                      <a:rPr lang="en-GB" sz="32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GB" sz="3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GB" sz="32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GB" sz="3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en-GB" sz="32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GB" sz="3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𝑲</m:t>
                    </m:r>
                    <m:r>
                      <a:rPr lang="en-GB" sz="32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GB" sz="3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GB" sz="3200" b="1" dirty="0">
                    <a:latin typeface="Avenir Next LT Pro" panose="020B0504020202020204" pitchFamily="34" charset="0"/>
                    <a:ea typeface="Cambria Math" panose="02040503050406030204" pitchFamily="18" charset="0"/>
                  </a:rPr>
                  <a:t>)</a:t>
                </a:r>
                <a:endParaRPr lang="en-GB" sz="4400" b="1" dirty="0">
                  <a:latin typeface="Avenir Next LT Pro" panose="020B0504020202020204" pitchFamily="34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Title 4">
                <a:extLst>
                  <a:ext uri="{FF2B5EF4-FFF2-40B4-BE49-F238E27FC236}">
                    <a16:creationId xmlns:a16="http://schemas.microsoft.com/office/drawing/2014/main" id="{7E9684AA-78C3-0D67-D24B-E2194A566B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1909" y="72708"/>
                <a:ext cx="12010938" cy="714342"/>
              </a:xfrm>
              <a:blipFill>
                <a:blip r:embed="rId3"/>
                <a:stretch>
                  <a:fillRect l="-1522" t="-11966" r="-507" b="-239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D4AF0E8C-CDC2-7A4E-35F0-15A417327F79}"/>
              </a:ext>
            </a:extLst>
          </p:cNvPr>
          <p:cNvSpPr txBox="1"/>
          <p:nvPr/>
        </p:nvSpPr>
        <p:spPr>
          <a:xfrm>
            <a:off x="4557133" y="1070052"/>
            <a:ext cx="7408126" cy="470628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342900" indent="-342900" algn="just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240B60"/>
                </a:solidFill>
                <a:latin typeface="Avenir Next LT Pro" panose="020B0504020202020204" pitchFamily="34" charset="0"/>
                <a:ea typeface="Cambria Math" panose="02040503050406030204" pitchFamily="18" charset="0"/>
              </a:rPr>
              <a:t>The algorithm naturally identified three distinct geographic zones:</a:t>
            </a:r>
          </a:p>
          <a:p>
            <a:pPr algn="just" fontAlgn="t">
              <a:lnSpc>
                <a:spcPct val="150000"/>
              </a:lnSpc>
            </a:pPr>
            <a:endParaRPr lang="en-GB" dirty="0">
              <a:latin typeface="Avenir Next LT Pro" panose="020B0504020202020204" pitchFamily="34" charset="0"/>
              <a:ea typeface="Cambria Math" panose="0204050305040603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GB" b="1" dirty="0">
                <a:solidFill>
                  <a:srgbClr val="0038A8"/>
                </a:solidFill>
                <a:latin typeface="Avenir Next LT Pro" panose="020B0504020202020204" pitchFamily="34" charset="0"/>
                <a:ea typeface="Cambria Math" panose="02040503050406030204" pitchFamily="18" charset="0"/>
              </a:rPr>
              <a:t>Northern/Sahel Belt (Dark Blue - G1):</a:t>
            </a:r>
            <a:r>
              <a:rPr lang="en-GB" dirty="0">
                <a:solidFill>
                  <a:srgbClr val="0038A8"/>
                </a:solidFill>
                <a:latin typeface="Avenir Next LT Pro" panose="020B0504020202020204" pitchFamily="34" charset="0"/>
                <a:ea typeface="Cambria Math" panose="02040503050406030204" pitchFamily="18" charset="0"/>
              </a:rPr>
              <a:t> </a:t>
            </a:r>
            <a:r>
              <a:rPr lang="en-GB" dirty="0">
                <a:solidFill>
                  <a:srgbClr val="240B60"/>
                </a:solidFill>
                <a:latin typeface="Avenir Next LT Pro" panose="020B0504020202020204" pitchFamily="34" charset="0"/>
                <a:ea typeface="Cambria Math" panose="02040503050406030204" pitchFamily="18" charset="0"/>
              </a:rPr>
              <a:t>Shared risk across the northern agricultural chain (Senegal to Ethiopia) (Nicholson, 2013).</a:t>
            </a:r>
          </a:p>
          <a:p>
            <a:pPr algn="just">
              <a:lnSpc>
                <a:spcPct val="150000"/>
              </a:lnSpc>
            </a:pPr>
            <a:endParaRPr lang="en-GB" dirty="0">
              <a:solidFill>
                <a:srgbClr val="0038A8"/>
              </a:solidFill>
              <a:latin typeface="Avenir Next LT Pro" panose="020B0504020202020204" pitchFamily="34" charset="0"/>
              <a:ea typeface="Cambria Math" panose="0204050305040603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GB" b="1" dirty="0">
                <a:solidFill>
                  <a:srgbClr val="90523C"/>
                </a:solidFill>
                <a:latin typeface="Avenir Next LT Pro" panose="020B0504020202020204" pitchFamily="34" charset="0"/>
                <a:ea typeface="Cambria Math" panose="02040503050406030204" pitchFamily="18" charset="0"/>
              </a:rPr>
              <a:t>Southern Africa (Brown - G2):</a:t>
            </a:r>
            <a:r>
              <a:rPr lang="en-GB" dirty="0">
                <a:solidFill>
                  <a:srgbClr val="90523C"/>
                </a:solidFill>
                <a:latin typeface="Avenir Next LT Pro" panose="020B0504020202020204" pitchFamily="34" charset="0"/>
                <a:ea typeface="Cambria Math" panose="02040503050406030204" pitchFamily="18" charset="0"/>
              </a:rPr>
              <a:t> </a:t>
            </a:r>
            <a:r>
              <a:rPr lang="en-GB" dirty="0">
                <a:solidFill>
                  <a:srgbClr val="240B60"/>
                </a:solidFill>
                <a:latin typeface="Avenir Next LT Pro" panose="020B0504020202020204" pitchFamily="34" charset="0"/>
                <a:ea typeface="Cambria Math" panose="02040503050406030204" pitchFamily="18" charset="0"/>
              </a:rPr>
              <a:t>A distinct climate zone driven primarily by the </a:t>
            </a:r>
            <a:r>
              <a:rPr lang="en-GB" b="1" dirty="0">
                <a:solidFill>
                  <a:srgbClr val="240B60"/>
                </a:solidFill>
                <a:latin typeface="Avenir Next LT Pro" panose="020B0504020202020204" pitchFamily="34" charset="0"/>
                <a:ea typeface="Cambria Math" panose="02040503050406030204" pitchFamily="18" charset="0"/>
              </a:rPr>
              <a:t>ENSO (El Niño)</a:t>
            </a:r>
            <a:r>
              <a:rPr lang="en-GB" dirty="0">
                <a:solidFill>
                  <a:srgbClr val="240B60"/>
                </a:solidFill>
                <a:latin typeface="Avenir Next LT Pro" panose="020B0504020202020204" pitchFamily="34" charset="0"/>
                <a:ea typeface="Cambria Math" panose="02040503050406030204" pitchFamily="18" charset="0"/>
              </a:rPr>
              <a:t> signal (Ropelewski &amp; Halpert, 1987).</a:t>
            </a:r>
          </a:p>
          <a:p>
            <a:pPr algn="just">
              <a:lnSpc>
                <a:spcPct val="150000"/>
              </a:lnSpc>
            </a:pPr>
            <a:endParaRPr lang="en-GB" dirty="0">
              <a:solidFill>
                <a:srgbClr val="90523C"/>
              </a:solidFill>
              <a:latin typeface="Avenir Next LT Pro" panose="020B0504020202020204" pitchFamily="34" charset="0"/>
              <a:ea typeface="Cambria Math" panose="0204050305040603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GB" b="1" dirty="0">
                <a:solidFill>
                  <a:srgbClr val="00B0F0"/>
                </a:solidFill>
                <a:latin typeface="Avenir Next LT Pro" panose="020B0504020202020204" pitchFamily="34" charset="0"/>
                <a:ea typeface="Cambria Math" panose="02040503050406030204" pitchFamily="18" charset="0"/>
              </a:rPr>
              <a:t>East Africa &amp; Madagascar (Light Blue - G3):</a:t>
            </a:r>
            <a:r>
              <a:rPr lang="en-GB" dirty="0">
                <a:solidFill>
                  <a:srgbClr val="00B0F0"/>
                </a:solidFill>
                <a:latin typeface="Avenir Next LT Pro" panose="020B0504020202020204" pitchFamily="34" charset="0"/>
                <a:ea typeface="Cambria Math" panose="02040503050406030204" pitchFamily="18" charset="0"/>
              </a:rPr>
              <a:t> </a:t>
            </a:r>
            <a:r>
              <a:rPr lang="en-GB" dirty="0">
                <a:solidFill>
                  <a:srgbClr val="240B60"/>
                </a:solidFill>
                <a:latin typeface="Avenir Next LT Pro" panose="020B0504020202020204" pitchFamily="34" charset="0"/>
                <a:ea typeface="Cambria Math" panose="02040503050406030204" pitchFamily="18" charset="0"/>
              </a:rPr>
              <a:t>Demonstrates that Madagascar’s climate risk correlates strongly with the East African coast (Marchant et al., 2007).</a:t>
            </a:r>
          </a:p>
        </p:txBody>
      </p:sp>
      <p:pic>
        <p:nvPicPr>
          <p:cNvPr id="25" name="Content Placeholder 24">
            <a:extLst>
              <a:ext uri="{FF2B5EF4-FFF2-40B4-BE49-F238E27FC236}">
                <a16:creationId xmlns:a16="http://schemas.microsoft.com/office/drawing/2014/main" id="{4736478D-4306-30D1-F5A2-03884FCB398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72" t="20068" r="33059" b="15193"/>
          <a:stretch>
            <a:fillRect/>
          </a:stretch>
        </p:blipFill>
        <p:spPr>
          <a:xfrm>
            <a:off x="47624" y="755960"/>
            <a:ext cx="4498225" cy="5454339"/>
          </a:xfrm>
          <a:prstGeom prst="rect">
            <a:avLst/>
          </a:prstGeom>
        </p:spPr>
      </p:pic>
      <p:pic>
        <p:nvPicPr>
          <p:cNvPr id="21" name="Content Placeholder 19">
            <a:extLst>
              <a:ext uri="{FF2B5EF4-FFF2-40B4-BE49-F238E27FC236}">
                <a16:creationId xmlns:a16="http://schemas.microsoft.com/office/drawing/2014/main" id="{EE1D0F39-DA03-4CD1-97AA-8D6C8944E4C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139" t="79160" r="449" b="7704"/>
          <a:stretch>
            <a:fillRect/>
          </a:stretch>
        </p:blipFill>
        <p:spPr>
          <a:xfrm>
            <a:off x="3767018" y="5039852"/>
            <a:ext cx="771524" cy="1170447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F58912A2-DF61-59FE-B154-820AB1BFA85C}"/>
              </a:ext>
            </a:extLst>
          </p:cNvPr>
          <p:cNvSpPr txBox="1"/>
          <p:nvPr/>
        </p:nvSpPr>
        <p:spPr>
          <a:xfrm>
            <a:off x="54485" y="5931812"/>
            <a:ext cx="204101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1100" b="1" i="0" dirty="0">
                <a:solidFill>
                  <a:srgbClr val="2B2D31"/>
                </a:solidFill>
                <a:effectLst/>
                <a:latin typeface="Inter"/>
              </a:rPr>
              <a:t>(Duque et al., 2012; Guo, 2008)</a:t>
            </a:r>
            <a:endParaRPr lang="en-GB" sz="1100" b="1" dirty="0"/>
          </a:p>
        </p:txBody>
      </p:sp>
    </p:spTree>
    <p:extLst>
      <p:ext uri="{BB962C8B-B14F-4D97-AF65-F5344CB8AC3E}">
        <p14:creationId xmlns:p14="http://schemas.microsoft.com/office/powerpoint/2010/main" val="42315310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166119-574C-2764-20D4-F619B82697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870BB4D-683F-4BE4-9264-B05BE7781C96}" type="slidenum">
              <a:rPr lang="en-GB" smtClean="0"/>
              <a:pPr/>
              <a:t>9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F9FE76-AD0B-5B2C-CAED-E6CB50F87EF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Private &amp; Confidential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le 5">
                <a:extLst>
                  <a:ext uri="{FF2B5EF4-FFF2-40B4-BE49-F238E27FC236}">
                    <a16:creationId xmlns:a16="http://schemas.microsoft.com/office/drawing/2014/main" id="{3B9CF955-738A-20A9-6EC1-CA5CB749C27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03305" y="88206"/>
                <a:ext cx="11769322" cy="614326"/>
              </a:xfrm>
            </p:spPr>
            <p:txBody>
              <a:bodyPr>
                <a:noAutofit/>
              </a:bodyPr>
              <a:lstStyle/>
              <a:p>
                <a:r>
                  <a:rPr lang="en-US" dirty="0">
                    <a:solidFill>
                      <a:srgbClr val="240B60"/>
                    </a:solidFill>
                    <a:latin typeface="Avenir Next LT Pro" panose="020B0504020202020204" pitchFamily="34" charset="0"/>
                    <a:ea typeface="Cambria Math" panose="02040503050406030204" pitchFamily="18" charset="0"/>
                  </a:rPr>
                  <a:t>Custer Drought Trajectories vs ENSO (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srgbClr val="240B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𝝀</m:t>
                    </m:r>
                    <m:r>
                      <a:rPr lang="en-GB">
                        <a:solidFill>
                          <a:srgbClr val="240B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GB" i="1">
                        <a:solidFill>
                          <a:srgbClr val="240B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GB">
                        <a:solidFill>
                          <a:srgbClr val="240B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GB" i="1">
                        <a:solidFill>
                          <a:srgbClr val="240B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en-GB">
                        <a:solidFill>
                          <a:srgbClr val="240B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GB" i="1">
                        <a:solidFill>
                          <a:srgbClr val="240B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𝑲</m:t>
                    </m:r>
                    <m:r>
                      <a:rPr lang="en-GB">
                        <a:solidFill>
                          <a:srgbClr val="240B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GB" i="1">
                        <a:solidFill>
                          <a:srgbClr val="240B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US" dirty="0">
                    <a:solidFill>
                      <a:srgbClr val="240B60"/>
                    </a:solidFill>
                    <a:latin typeface="Avenir Next LT Pro" panose="020B0504020202020204" pitchFamily="34" charset="0"/>
                    <a:ea typeface="Cambria Math" panose="02040503050406030204" pitchFamily="18" charset="0"/>
                  </a:rPr>
                  <a:t>)</a:t>
                </a:r>
                <a:endParaRPr lang="en-GB" dirty="0">
                  <a:solidFill>
                    <a:srgbClr val="240B60"/>
                  </a:solidFill>
                  <a:latin typeface="Avenir Next LT Pro" panose="020B0504020202020204" pitchFamily="34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Title 5">
                <a:extLst>
                  <a:ext uri="{FF2B5EF4-FFF2-40B4-BE49-F238E27FC236}">
                    <a16:creationId xmlns:a16="http://schemas.microsoft.com/office/drawing/2014/main" id="{3B9CF955-738A-20A9-6EC1-CA5CB749C2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03305" y="88206"/>
                <a:ext cx="11769322" cy="614326"/>
              </a:xfrm>
              <a:blipFill>
                <a:blip r:embed="rId3"/>
                <a:stretch>
                  <a:fillRect l="-1605" t="-21782" r="-414" b="-3564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Content Placeholder 19">
            <a:extLst>
              <a:ext uri="{FF2B5EF4-FFF2-40B4-BE49-F238E27FC236}">
                <a16:creationId xmlns:a16="http://schemas.microsoft.com/office/drawing/2014/main" id="{92F66772-892C-1572-EAF6-48CCCA52C68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1" t="24299" r="1318" b="10765"/>
          <a:stretch>
            <a:fillRect/>
          </a:stretch>
        </p:blipFill>
        <p:spPr>
          <a:xfrm>
            <a:off x="352425" y="733425"/>
            <a:ext cx="11487150" cy="483846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00D8AEA-C1B9-0407-0338-10B6D11C321F}"/>
              </a:ext>
            </a:extLst>
          </p:cNvPr>
          <p:cNvSpPr txBox="1"/>
          <p:nvPr/>
        </p:nvSpPr>
        <p:spPr>
          <a:xfrm>
            <a:off x="-6459" y="5475352"/>
            <a:ext cx="62766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en-GB" b="1" dirty="0">
                <a:solidFill>
                  <a:srgbClr val="240B60"/>
                </a:solidFill>
                <a:latin typeface="Avenir Next LT Pro" panose="020B0504020202020204" pitchFamily="34" charset="0"/>
              </a:rPr>
              <a:t>G2 (Southern Africa)</a:t>
            </a:r>
            <a:r>
              <a:rPr lang="en-GB" dirty="0">
                <a:solidFill>
                  <a:srgbClr val="240B60"/>
                </a:solidFill>
                <a:latin typeface="Avenir Next LT Pro" panose="020B0504020202020204" pitchFamily="34" charset="0"/>
              </a:rPr>
              <a:t> follows the </a:t>
            </a:r>
            <a:r>
              <a:rPr lang="en-GB" b="1" dirty="0">
                <a:solidFill>
                  <a:srgbClr val="240B60"/>
                </a:solidFill>
                <a:latin typeface="Avenir Next LT Pro" panose="020B0504020202020204" pitchFamily="34" charset="0"/>
              </a:rPr>
              <a:t>ENSO signal</a:t>
            </a:r>
            <a:r>
              <a:rPr lang="en-GB" dirty="0">
                <a:solidFill>
                  <a:srgbClr val="240B60"/>
                </a:solidFill>
                <a:latin typeface="Avenir Next LT Pro" panose="020B0504020202020204" pitchFamily="34" charset="0"/>
              </a:rPr>
              <a:t>, showing strong spikes during </a:t>
            </a:r>
            <a:r>
              <a:rPr lang="en-GB" b="1" dirty="0">
                <a:solidFill>
                  <a:srgbClr val="240B60"/>
                </a:solidFill>
                <a:latin typeface="Avenir Next LT Pro" panose="020B0504020202020204" pitchFamily="34" charset="0"/>
              </a:rPr>
              <a:t>2015 - 2016</a:t>
            </a:r>
            <a:r>
              <a:rPr lang="en-GB" dirty="0">
                <a:solidFill>
                  <a:srgbClr val="240B60"/>
                </a:solidFill>
                <a:latin typeface="Avenir Next LT Pro" panose="020B0504020202020204" pitchFamily="34" charset="0"/>
              </a:rPr>
              <a:t> and </a:t>
            </a:r>
            <a:r>
              <a:rPr lang="en-GB" b="1" dirty="0">
                <a:solidFill>
                  <a:srgbClr val="240B60"/>
                </a:solidFill>
                <a:latin typeface="Avenir Next LT Pro" panose="020B0504020202020204" pitchFamily="34" charset="0"/>
              </a:rPr>
              <a:t>2023 - 2024</a:t>
            </a:r>
            <a:r>
              <a:rPr lang="en-GB" dirty="0">
                <a:solidFill>
                  <a:srgbClr val="240B60"/>
                </a:solidFill>
                <a:latin typeface="Avenir Next LT Pro" panose="020B0504020202020204" pitchFamily="34" charset="0"/>
              </a:rPr>
              <a:t>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B35EF27-A2C9-123D-653D-1E60185CF0AF}"/>
              </a:ext>
            </a:extLst>
          </p:cNvPr>
          <p:cNvSpPr txBox="1"/>
          <p:nvPr/>
        </p:nvSpPr>
        <p:spPr>
          <a:xfrm>
            <a:off x="103305" y="653612"/>
            <a:ext cx="71653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i="0" dirty="0">
                <a:solidFill>
                  <a:srgbClr val="240B60"/>
                </a:solidFill>
                <a:effectLst/>
                <a:latin typeface="Avenir Next LT Pro" panose="020B0504020202020204" pitchFamily="34" charset="0"/>
              </a:rPr>
              <a:t>G1 (Red)</a:t>
            </a:r>
            <a:r>
              <a:rPr lang="en-GB" b="0" i="0" dirty="0">
                <a:solidFill>
                  <a:srgbClr val="240B60"/>
                </a:solidFill>
                <a:effectLst/>
                <a:latin typeface="Avenir Next LT Pro" panose="020B0504020202020204" pitchFamily="34" charset="0"/>
              </a:rPr>
              <a:t> and </a:t>
            </a:r>
            <a:r>
              <a:rPr lang="en-GB" b="1" i="0" dirty="0">
                <a:solidFill>
                  <a:srgbClr val="240B60"/>
                </a:solidFill>
                <a:effectLst/>
                <a:latin typeface="Avenir Next LT Pro" panose="020B0504020202020204" pitchFamily="34" charset="0"/>
              </a:rPr>
              <a:t>G3 (Blue)</a:t>
            </a:r>
            <a:r>
              <a:rPr lang="en-GB" b="0" i="0" dirty="0">
                <a:solidFill>
                  <a:srgbClr val="240B60"/>
                </a:solidFill>
                <a:effectLst/>
                <a:latin typeface="Avenir Next LT Pro" panose="020B0504020202020204" pitchFamily="34" charset="0"/>
              </a:rPr>
              <a:t> do not follow the black dotted line.</a:t>
            </a:r>
            <a:endParaRPr lang="en-GB" dirty="0">
              <a:solidFill>
                <a:srgbClr val="240B60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C3D7F1B-F9F9-B7C8-40C7-261FE6A42C32}"/>
              </a:ext>
            </a:extLst>
          </p:cNvPr>
          <p:cNvSpPr txBox="1"/>
          <p:nvPr/>
        </p:nvSpPr>
        <p:spPr>
          <a:xfrm>
            <a:off x="6096001" y="5447101"/>
            <a:ext cx="609600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en-GB" b="1" dirty="0">
                <a:solidFill>
                  <a:srgbClr val="240B60"/>
                </a:solidFill>
                <a:latin typeface="Avenir Next LT Pro" panose="020B0504020202020204" pitchFamily="34" charset="0"/>
              </a:rPr>
              <a:t>G1 (Northern/Sahel) </a:t>
            </a:r>
            <a:r>
              <a:rPr lang="en-GB" dirty="0">
                <a:solidFill>
                  <a:srgbClr val="240B60"/>
                </a:solidFill>
                <a:latin typeface="Avenir Next LT Pro" panose="020B0504020202020204" pitchFamily="34" charset="0"/>
              </a:rPr>
              <a:t>remains consistently lower, indicating reduced drought frequency relative to other the clusters.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0BC5EBD-6FB4-D9C8-4C16-42B86FF944A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231034" y="954614"/>
            <a:ext cx="49084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b="1" dirty="0">
                <a:solidFill>
                  <a:schemeClr val="tx1">
                    <a:lumMod val="50000"/>
                  </a:schemeClr>
                </a:solidFill>
              </a:rPr>
              <a:t>+0.595 </a:t>
            </a:r>
            <a:endParaRPr lang="en-GB" sz="32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A1823D0-A07E-F349-4BE7-2D605F01041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231034" y="1121375"/>
            <a:ext cx="49084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b="1" dirty="0">
                <a:solidFill>
                  <a:schemeClr val="tx1">
                    <a:lumMod val="50000"/>
                  </a:schemeClr>
                </a:solidFill>
              </a:rPr>
              <a:t>+0.005 </a:t>
            </a:r>
            <a:endParaRPr lang="en-GB" sz="32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FACA23A-79CB-7406-CB03-82AA723754E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233149" y="769935"/>
            <a:ext cx="47160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b="1" dirty="0">
                <a:solidFill>
                  <a:schemeClr val="tx1">
                    <a:lumMod val="50000"/>
                  </a:schemeClr>
                </a:solidFill>
              </a:rPr>
              <a:t>-0.033 </a:t>
            </a:r>
            <a:endParaRPr lang="en-GB" sz="32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2C13F4DE-6E15-D129-D0BF-6E99853165D6}"/>
              </a:ext>
            </a:extLst>
          </p:cNvPr>
          <p:cNvSpPr/>
          <p:nvPr/>
        </p:nvSpPr>
        <p:spPr>
          <a:xfrm>
            <a:off x="5952361" y="3805743"/>
            <a:ext cx="566928" cy="566884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2E20321-8186-095A-2DEA-968532147F2E}"/>
              </a:ext>
            </a:extLst>
          </p:cNvPr>
          <p:cNvSpPr/>
          <p:nvPr/>
        </p:nvSpPr>
        <p:spPr>
          <a:xfrm>
            <a:off x="8536686" y="800211"/>
            <a:ext cx="566928" cy="566884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01626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F4235-94A9-E0DB-2289-D07CD7677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A6CAEC9-381D-ECC9-76DB-DB43099C1A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0" t="400" r="779" b="-397"/>
          <a:stretch>
            <a:fillRect/>
          </a:stretch>
        </p:blipFill>
        <p:spPr>
          <a:xfrm>
            <a:off x="3302001" y="611245"/>
            <a:ext cx="8881536" cy="5639838"/>
          </a:xfrm>
          <a:prstGeom prst="rect">
            <a:avLst/>
          </a:prstGeom>
          <a:noFill/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8E7B76-6CD6-AD53-3FAE-5B951A65003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724398" y="6376796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870BB4D-683F-4BE4-9264-B05BE7781C96}" type="slidenum">
              <a:rPr lang="en-GB" smtClean="0"/>
              <a:pPr>
                <a:spcAft>
                  <a:spcPts val="600"/>
                </a:spcAft>
              </a:pPr>
              <a:t>10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B11167-A92D-46A5-D824-3EDD7E5D5DC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81063" y="6370377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 kern="1200">
                <a:latin typeface="Cairo" pitchFamily="2" charset="-78"/>
                <a:ea typeface="+mn-ea"/>
                <a:cs typeface="Cairo" pitchFamily="2" charset="-78"/>
              </a:rPr>
              <a:t>Private &amp; Confidential</a:t>
            </a:r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1DF18FAA-E865-C992-7267-BBCB9F59D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20" y="60817"/>
            <a:ext cx="10783556" cy="61432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>
                <a:latin typeface="Avenir Next LT Pro" panose="020B0504020202020204" pitchFamily="34" charset="0"/>
              </a:rPr>
              <a:t>Continental Diversification: Southern Africa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Placeholder 2">
                <a:extLst>
                  <a:ext uri="{FF2B5EF4-FFF2-40B4-BE49-F238E27FC236}">
                    <a16:creationId xmlns:a16="http://schemas.microsoft.com/office/drawing/2014/main" id="{54874896-659D-CAC1-B52C-B00B2F465752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12700" y="611643"/>
                <a:ext cx="3289301" cy="5635112"/>
              </a:xfrm>
              <a:solidFill>
                <a:schemeClr val="bg1"/>
              </a:solidFill>
            </p:spPr>
            <p:txBody>
              <a:bodyPr/>
              <a:lstStyle/>
              <a:p>
                <a:pPr lvl="0" algn="just">
                  <a:lnSpc>
                    <a:spcPct val="100000"/>
                  </a:lnSpc>
                </a:pPr>
                <a:r>
                  <a:rPr lang="en-GB" sz="1800" b="1" dirty="0"/>
                  <a:t>Regional Drought Coherence:</a:t>
                </a:r>
                <a:r>
                  <a:rPr lang="en-GB" sz="1800" dirty="0"/>
                  <a:t> Uses Pearson’s </a:t>
                </a:r>
                <a14:m>
                  <m:oMath xmlns:m="http://schemas.openxmlformats.org/officeDocument/2006/math">
                    <m:r>
                      <a:rPr lang="en-GB" sz="1800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GB" sz="1800" dirty="0"/>
                  <a:t> to map districts that fail simultaneously, identifying "Systemic Risk Zones."</a:t>
                </a:r>
              </a:p>
              <a:p>
                <a:pPr lvl="0" algn="just">
                  <a:lnSpc>
                    <a:spcPct val="100000"/>
                  </a:lnSpc>
                </a:pPr>
                <a:r>
                  <a:rPr lang="en-GB" sz="1800" b="1" dirty="0"/>
                  <a:t>High-Correlation Proxy:</a:t>
                </a:r>
                <a:r>
                  <a:rPr lang="en-GB" sz="1800" dirty="0"/>
                  <a:t> </a:t>
                </a:r>
                <a:r>
                  <a:rPr lang="en-GB" sz="1800" dirty="0" err="1"/>
                  <a:t>Mkushi</a:t>
                </a:r>
                <a:r>
                  <a:rPr lang="en-GB" sz="1800" dirty="0"/>
                  <a:t> (Zambia) shows extreme co-variability (</a:t>
                </a:r>
                <a14:m>
                  <m:oMath xmlns:m="http://schemas.openxmlformats.org/officeDocument/2006/math">
                    <m:r>
                      <a:rPr lang="en-GB" sz="18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GB" sz="1800">
                        <a:latin typeface="Cambria Math" panose="02040503050406030204" pitchFamily="18" charset="0"/>
                      </a:rPr>
                      <m:t>&gt;0.90</m:t>
                    </m:r>
                  </m:oMath>
                </a14:m>
                <a:r>
                  <a:rPr lang="en-GB" sz="1800" dirty="0"/>
                  <a:t>) with </a:t>
                </a:r>
                <a:r>
                  <a:rPr lang="en-GB" sz="1800" dirty="0" err="1"/>
                  <a:t>Serenje</a:t>
                </a:r>
                <a:r>
                  <a:rPr lang="en-GB" sz="1800" dirty="0"/>
                  <a:t> and districts in Malawi, defining a single payout cluster.</a:t>
                </a:r>
              </a:p>
              <a:p>
                <a:pPr lvl="0" algn="just"/>
                <a:r>
                  <a:rPr lang="en-GB" sz="1800" b="1" dirty="0"/>
                  <a:t>Historical Exposure Profile:</a:t>
                </a:r>
                <a:r>
                  <a:rPr lang="en-GB" sz="1800" dirty="0"/>
                  <a:t> The 26-year sparkline quantifies the frequency and severity of historical drought "shocks."</a:t>
                </a:r>
              </a:p>
              <a:p>
                <a:pPr lvl="0" algn="just"/>
                <a:r>
                  <a:rPr lang="en-GB" sz="1800" b="1" dirty="0"/>
                  <a:t>Precision Standard:</a:t>
                </a:r>
                <a:r>
                  <a:rPr lang="en-GB" sz="1800" dirty="0"/>
                  <a:t> Built on Gamma-CDF standardized indices, ensuring that a </a:t>
                </a:r>
                <a14:m>
                  <m:oMath xmlns:m="http://schemas.openxmlformats.org/officeDocument/2006/math">
                    <m:r>
                      <a:rPr lang="en-GB" sz="1800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800">
                        <a:latin typeface="Cambria Math" panose="02040503050406030204" pitchFamily="18" charset="0"/>
                      </a:rPr>
                      <m:t>1.0</m:t>
                    </m:r>
                  </m:oMath>
                </a14:m>
                <a:r>
                  <a:rPr lang="en-GB" sz="1800" dirty="0"/>
                  <a:t> SSI threshold represents the same drought severity across all districts.</a:t>
                </a:r>
              </a:p>
            </p:txBody>
          </p:sp>
        </mc:Choice>
        <mc:Fallback xmlns="">
          <p:sp>
            <p:nvSpPr>
              <p:cNvPr id="13" name="Text Placeholder 2">
                <a:extLst>
                  <a:ext uri="{FF2B5EF4-FFF2-40B4-BE49-F238E27FC236}">
                    <a16:creationId xmlns:a16="http://schemas.microsoft.com/office/drawing/2014/main" id="{54874896-659D-CAC1-B52C-B00B2F4657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12700" y="611643"/>
                <a:ext cx="3289301" cy="5635112"/>
              </a:xfrm>
              <a:blipFill>
                <a:blip r:embed="rId4"/>
                <a:stretch>
                  <a:fillRect l="-1481" t="-432" r="-1481" b="-118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21036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962C7-DAE8-875D-D4BC-4686E7B86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8FBAA42-E311-B9CD-DE2A-3850B47193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8" r="886"/>
          <a:stretch>
            <a:fillRect/>
          </a:stretch>
        </p:blipFill>
        <p:spPr>
          <a:xfrm>
            <a:off x="3378200" y="625415"/>
            <a:ext cx="8807450" cy="5609091"/>
          </a:xfrm>
          <a:prstGeom prst="rect">
            <a:avLst/>
          </a:prstGeom>
          <a:noFill/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AB47560-2455-CBA7-A763-D0DA1C6A5E6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724398" y="6376796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870BB4D-683F-4BE4-9264-B05BE7781C96}" type="slidenum">
              <a:rPr lang="en-GB" smtClean="0"/>
              <a:pPr>
                <a:spcAft>
                  <a:spcPts val="600"/>
                </a:spcAft>
              </a:pPr>
              <a:t>11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57C8AC-177C-5F79-648C-B1DE48FD854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81063" y="6370377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 kern="1200">
                <a:latin typeface="Cairo" pitchFamily="2" charset="-78"/>
                <a:ea typeface="+mn-ea"/>
                <a:cs typeface="Cairo" pitchFamily="2" charset="-78"/>
              </a:rPr>
              <a:t>Private &amp; Confidential</a:t>
            </a:r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29B6C039-C258-C619-462A-EFBBBE9B9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58" y="75497"/>
            <a:ext cx="10783556" cy="61432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>
                <a:latin typeface="Avenir Next LT Pro" panose="020B0504020202020204" pitchFamily="34" charset="0"/>
              </a:rPr>
              <a:t>West Africa</a:t>
            </a:r>
            <a:endParaRPr lang="en-GB" sz="2800" dirty="0">
              <a:latin typeface="Avenir Next LT Pro" panose="020B0504020202020204" pitchFamily="34" charset="0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98411F7-A3A5-BC28-55AC-A479A4B677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700" y="611643"/>
            <a:ext cx="3365500" cy="5635112"/>
          </a:xfrm>
          <a:solidFill>
            <a:schemeClr val="bg1"/>
          </a:solidFill>
        </p:spPr>
        <p:txBody>
          <a:bodyPr/>
          <a:lstStyle/>
          <a:p>
            <a:pPr lvl="0" algn="just"/>
            <a:r>
              <a:rPr lang="en-GB" sz="1800" b="1" dirty="0"/>
              <a:t>Strategic Independence:</a:t>
            </a:r>
            <a:r>
              <a:rPr lang="en-GB" sz="1800" dirty="0"/>
              <a:t> Demonstrates that West African drought drivers (Sahelian Monsoon) are uncorrelated with Southern African drivers.</a:t>
            </a:r>
          </a:p>
          <a:p>
            <a:pPr lvl="0" algn="just"/>
            <a:r>
              <a:rPr lang="en-GB" sz="1800" b="1" dirty="0"/>
              <a:t>Sahelian Risk Cohesion:</a:t>
            </a:r>
            <a:r>
              <a:rPr lang="en-GB" sz="1800" dirty="0"/>
              <a:t> </a:t>
            </a:r>
            <a:r>
              <a:rPr lang="en-GB" sz="1800" dirty="0" err="1"/>
              <a:t>Bougouni</a:t>
            </a:r>
            <a:r>
              <a:rPr lang="en-GB" sz="1800" dirty="0"/>
              <a:t> (Mali) shows high correlation with Guinea and Burkina Faso, but zero correlation with the Zambian cluster.</a:t>
            </a:r>
          </a:p>
          <a:p>
            <a:pPr lvl="0" algn="just"/>
            <a:r>
              <a:rPr lang="en-GB" sz="1800" b="1" dirty="0"/>
              <a:t>The 'Natural Hedge':</a:t>
            </a:r>
            <a:r>
              <a:rPr lang="en-GB" sz="1800" dirty="0"/>
              <a:t> Proves that drought in the South does not imply drought in the North, allowing for capital reserve optimization.</a:t>
            </a:r>
          </a:p>
          <a:p>
            <a:pPr lvl="0" algn="just"/>
            <a:r>
              <a:rPr lang="en-GB" sz="1800" b="1" dirty="0"/>
              <a:t>Maize-Specific Targeting:</a:t>
            </a:r>
            <a:r>
              <a:rPr lang="en-GB" sz="1800" dirty="0"/>
              <a:t> Results are filtered through GEOGLAM Maize 1 crop calendars, focusing risk assessment only on the critical 75% of the growing season.</a:t>
            </a:r>
          </a:p>
        </p:txBody>
      </p:sp>
    </p:spTree>
    <p:extLst>
      <p:ext uri="{BB962C8B-B14F-4D97-AF65-F5344CB8AC3E}">
        <p14:creationId xmlns:p14="http://schemas.microsoft.com/office/powerpoint/2010/main" val="6773463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CE51D24-E20C-C3B7-E5F8-8D84D75114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7033" y="1430236"/>
            <a:ext cx="11613217" cy="4128736"/>
          </a:xfrm>
        </p:spPr>
        <p:txBody>
          <a:bodyPr/>
          <a:lstStyle/>
          <a:p>
            <a:pPr algn="just"/>
            <a:r>
              <a:rPr lang="en-GB" sz="1800" dirty="0" err="1"/>
              <a:t>AghaKouchak</a:t>
            </a:r>
            <a:r>
              <a:rPr lang="en-GB" sz="1800" dirty="0"/>
              <a:t>, A. (2014) ‘A baseline probabilistic drought forecasting framework using standardized soil moisture index’, Hydrology and Earth System Sciences, 18(7), pp. 2515–2526. </a:t>
            </a:r>
            <a:r>
              <a:rPr lang="en-GB" sz="1800" dirty="0" err="1"/>
              <a:t>doi</a:t>
            </a:r>
            <a:r>
              <a:rPr lang="en-GB" sz="1800" dirty="0"/>
              <a:t>: 10.5194/hess-18-2515-2014.</a:t>
            </a:r>
          </a:p>
          <a:p>
            <a:pPr algn="just"/>
            <a:r>
              <a:rPr lang="en-GB" sz="1800" dirty="0" err="1"/>
              <a:t>Carrão</a:t>
            </a:r>
            <a:r>
              <a:rPr lang="en-GB" sz="1800" dirty="0"/>
              <a:t>, H., Naumann, G. and Barbosa, P. (2016) ‘Mapping global patterns of drought risk: An empirical framework based on sub-national estimates of hazard, exposure and vulnerability’, Global Environmental Change, 39, pp. 108–124. </a:t>
            </a:r>
            <a:r>
              <a:rPr lang="en-GB" sz="1800" dirty="0" err="1"/>
              <a:t>doi</a:t>
            </a:r>
            <a:r>
              <a:rPr lang="en-GB" sz="1800" dirty="0"/>
              <a:t>: 10.1016/j.gloenvcha.2016.04.012.</a:t>
            </a:r>
          </a:p>
          <a:p>
            <a:pPr algn="just"/>
            <a:r>
              <a:rPr lang="en-GB" sz="1800" dirty="0"/>
              <a:t>Group on Earth Observations Global Agricultural Monitoring (GEOGLAM) (2024) Crop Monitor for Early Warning (CM4EW) Calendars V1.4. Available at: https://cropmonitor.org/ (Accessed: 29 April 2026).</a:t>
            </a:r>
          </a:p>
          <a:p>
            <a:pPr algn="just"/>
            <a:r>
              <a:rPr lang="en-GB" sz="1800" dirty="0"/>
              <a:t>McKee, T. B., </a:t>
            </a:r>
            <a:r>
              <a:rPr lang="en-GB" sz="1800" dirty="0" err="1"/>
              <a:t>Doesken</a:t>
            </a:r>
            <a:r>
              <a:rPr lang="en-GB" sz="1800" dirty="0"/>
              <a:t>, N. J. and Kleist, J. (1993) ‘The relationship of drought frequency and duration to time scales’, Proceedings of the 8th Conference on Applied Climatology, Anaheim, California, 17–22 January. Boston: American Meteorological Society, pp. 179–184.</a:t>
            </a:r>
          </a:p>
          <a:p>
            <a:pPr algn="just"/>
            <a:r>
              <a:rPr lang="en-GB" sz="1800" dirty="0"/>
              <a:t>World Meteorological Organization (WMO) (2012) Standardized Precipitation Index User Guide. WMO-No. 1090. Geneva: World Meteorological Organization.</a:t>
            </a:r>
            <a:endParaRPr lang="en-GB" sz="1800" dirty="0">
              <a:effectLst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9B0E71-4627-3E71-7027-D77FC31E846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870BB4D-683F-4BE4-9264-B05BE7781C96}" type="slidenum">
              <a:rPr lang="en-GB" smtClean="0"/>
              <a:pPr/>
              <a:t>12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367B01-C529-97FC-E9F8-046E6FAA3B4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Private &amp; Confidential</a:t>
            </a:r>
            <a:endParaRPr lang="en-GB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A2D7C7B-A1EC-E878-AC22-99D1705E6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033" y="381180"/>
            <a:ext cx="3582430" cy="614326"/>
          </a:xfrm>
        </p:spPr>
        <p:txBody>
          <a:bodyPr>
            <a:noAutofit/>
          </a:bodyPr>
          <a:lstStyle/>
          <a:p>
            <a:r>
              <a:rPr lang="en-GB" sz="4800" b="1" dirty="0"/>
              <a:t>References:</a:t>
            </a:r>
            <a:endParaRPr lang="en-GB" sz="4800" dirty="0"/>
          </a:p>
        </p:txBody>
      </p:sp>
    </p:spTree>
    <p:extLst>
      <p:ext uri="{BB962C8B-B14F-4D97-AF65-F5344CB8AC3E}">
        <p14:creationId xmlns:p14="http://schemas.microsoft.com/office/powerpoint/2010/main" val="20109958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F7DB8C-3743-801B-7F8C-651DC46D5F6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sz="1600">
                <a:latin typeface="Cairo" pitchFamily="2" charset="-78"/>
                <a:cs typeface="Cairo" pitchFamily="2" charset="-78"/>
              </a:rPr>
              <a:t>Private &amp; Confidential</a:t>
            </a:r>
            <a:endParaRPr lang="en-GB" sz="1600" dirty="0">
              <a:latin typeface="Cairo" pitchFamily="2" charset="-78"/>
              <a:cs typeface="Cairo" pitchFamily="2" charset="-78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5EE7D6-E53E-9F69-2796-DFA604B6271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376988"/>
            <a:ext cx="2743200" cy="365125"/>
          </a:xfrm>
          <a:prstGeom prst="rect">
            <a:avLst/>
          </a:prstGeom>
        </p:spPr>
        <p:txBody>
          <a:bodyPr/>
          <a:lstStyle/>
          <a:p>
            <a:fld id="{2870BB4D-683F-4BE4-9264-B05BE7781C96}" type="slidenum">
              <a:rPr lang="en-GB" smtClean="0"/>
              <a:pPr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1622240"/>
      </p:ext>
    </p:extLst>
  </p:cSld>
  <p:clrMapOvr>
    <a:masterClrMapping/>
  </p:clrMapOvr>
</p:sld>
</file>

<file path=ppt/theme/theme1.xml><?xml version="1.0" encoding="utf-8"?>
<a:theme xmlns:a="http://schemas.openxmlformats.org/drawingml/2006/main" name="10_Custom Design">
  <a:themeElements>
    <a:clrScheme name="ASR 1">
      <a:dk1>
        <a:srgbClr val="240B60"/>
      </a:dk1>
      <a:lt1>
        <a:srgbClr val="FFFFFF"/>
      </a:lt1>
      <a:dk2>
        <a:srgbClr val="4A4F8D"/>
      </a:dk2>
      <a:lt2>
        <a:srgbClr val="8B9FB7"/>
      </a:lt2>
      <a:accent1>
        <a:srgbClr val="240B60"/>
      </a:accent1>
      <a:accent2>
        <a:srgbClr val="ABC0CC"/>
      </a:accent2>
      <a:accent3>
        <a:srgbClr val="CDDDE1"/>
      </a:accent3>
      <a:accent4>
        <a:srgbClr val="8F8935"/>
      </a:accent4>
      <a:accent5>
        <a:srgbClr val="BDB54C"/>
      </a:accent5>
      <a:accent6>
        <a:srgbClr val="CDC879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 Template" id="{D3BFA0D5-6B97-48B9-8098-E5905484D3C7}" vid="{82E6ABC9-F03F-4061-90BD-CD048933AA3F}"/>
    </a:ext>
  </a:extLst>
</a:theme>
</file>

<file path=ppt/theme/theme2.xml><?xml version="1.0" encoding="utf-8"?>
<a:theme xmlns:a="http://schemas.openxmlformats.org/drawingml/2006/main" name="13_Custom Design">
  <a:themeElements>
    <a:clrScheme name="ASR 1">
      <a:dk1>
        <a:srgbClr val="240B60"/>
      </a:dk1>
      <a:lt1>
        <a:srgbClr val="FFFFFF"/>
      </a:lt1>
      <a:dk2>
        <a:srgbClr val="4A4F8D"/>
      </a:dk2>
      <a:lt2>
        <a:srgbClr val="8B9FB7"/>
      </a:lt2>
      <a:accent1>
        <a:srgbClr val="240B60"/>
      </a:accent1>
      <a:accent2>
        <a:srgbClr val="ABC0CC"/>
      </a:accent2>
      <a:accent3>
        <a:srgbClr val="CDDDE1"/>
      </a:accent3>
      <a:accent4>
        <a:srgbClr val="8F8935"/>
      </a:accent4>
      <a:accent5>
        <a:srgbClr val="BDB54C"/>
      </a:accent5>
      <a:accent6>
        <a:srgbClr val="CDC879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 Template" id="{D3BFA0D5-6B97-48B9-8098-E5905484D3C7}" vid="{82E6ABC9-F03F-4061-90BD-CD048933AA3F}"/>
    </a:ext>
  </a:extLst>
</a:theme>
</file>

<file path=ppt/theme/theme3.xml><?xml version="1.0" encoding="utf-8"?>
<a:theme xmlns:a="http://schemas.openxmlformats.org/drawingml/2006/main" name="9_Custom Design">
  <a:themeElements>
    <a:clrScheme name="ASR 1">
      <a:dk1>
        <a:srgbClr val="240B60"/>
      </a:dk1>
      <a:lt1>
        <a:srgbClr val="FFFFFF"/>
      </a:lt1>
      <a:dk2>
        <a:srgbClr val="4A4F8D"/>
      </a:dk2>
      <a:lt2>
        <a:srgbClr val="8B9FB7"/>
      </a:lt2>
      <a:accent1>
        <a:srgbClr val="240B60"/>
      </a:accent1>
      <a:accent2>
        <a:srgbClr val="ABC0CC"/>
      </a:accent2>
      <a:accent3>
        <a:srgbClr val="CDDDE1"/>
      </a:accent3>
      <a:accent4>
        <a:srgbClr val="8F8935"/>
      </a:accent4>
      <a:accent5>
        <a:srgbClr val="BDB54C"/>
      </a:accent5>
      <a:accent6>
        <a:srgbClr val="CDC879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 Template" id="{D3BFA0D5-6B97-48B9-8098-E5905484D3C7}" vid="{82E6ABC9-F03F-4061-90BD-CD048933AA3F}"/>
    </a:ext>
  </a:extLst>
</a:theme>
</file>

<file path=ppt/theme/theme4.xml><?xml version="1.0" encoding="utf-8"?>
<a:theme xmlns:a="http://schemas.openxmlformats.org/drawingml/2006/main" name="14_Custom Design">
  <a:themeElements>
    <a:clrScheme name="ASR">
      <a:dk1>
        <a:srgbClr val="240B60"/>
      </a:dk1>
      <a:lt1>
        <a:sysClr val="window" lastClr="FFFFFF"/>
      </a:lt1>
      <a:dk2>
        <a:srgbClr val="44546A"/>
      </a:dk2>
      <a:lt2>
        <a:srgbClr val="E7E6E6"/>
      </a:lt2>
      <a:accent1>
        <a:srgbClr val="240B60"/>
      </a:accent1>
      <a:accent2>
        <a:srgbClr val="8F8935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 Template" id="{D3BFA0D5-6B97-48B9-8098-E5905484D3C7}" vid="{C889FD7B-E332-4B22-AD15-DE5C5D5B8846}"/>
    </a:ext>
  </a:extLst>
</a:theme>
</file>

<file path=ppt/theme/theme5.xml><?xml version="1.0" encoding="utf-8"?>
<a:theme xmlns:a="http://schemas.openxmlformats.org/drawingml/2006/main" name="12_Custom Design">
  <a:themeElements>
    <a:clrScheme name="ASR 1">
      <a:dk1>
        <a:srgbClr val="240B60"/>
      </a:dk1>
      <a:lt1>
        <a:srgbClr val="FFFFFF"/>
      </a:lt1>
      <a:dk2>
        <a:srgbClr val="4A4F8D"/>
      </a:dk2>
      <a:lt2>
        <a:srgbClr val="8B9FB7"/>
      </a:lt2>
      <a:accent1>
        <a:srgbClr val="240B60"/>
      </a:accent1>
      <a:accent2>
        <a:srgbClr val="ABC0CC"/>
      </a:accent2>
      <a:accent3>
        <a:srgbClr val="CDDDE1"/>
      </a:accent3>
      <a:accent4>
        <a:srgbClr val="8F8935"/>
      </a:accent4>
      <a:accent5>
        <a:srgbClr val="BDB54C"/>
      </a:accent5>
      <a:accent6>
        <a:srgbClr val="CDC879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 Template" id="{D3BFA0D5-6B97-48B9-8098-E5905484D3C7}" vid="{82E6ABC9-F03F-4061-90BD-CD048933AA3F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InfoPath Form Template" ma:contentTypeID="0x010100F8EF98760CBA4A94994F13BA881038FA004FDA88259E2DCB40A89F89B9574DB257" ma:contentTypeVersion="0" ma:contentTypeDescription="A Microsoft InfoPath Form Template." ma:contentTypeScope="" ma:versionID="d1f948aa6faf9d67ed6fd5d8a36f071a">
  <xsd:schema xmlns:xsd="http://www.w3.org/2001/XMLSchema" xmlns:xs="http://www.w3.org/2001/XMLSchema" xmlns:p="http://schemas.microsoft.com/office/2006/metadata/properties" xmlns:ns2="89265ff7-2d35-4db8-b915-0105e95ab6bd" targetNamespace="http://schemas.microsoft.com/office/2006/metadata/properties" ma:root="true" ma:fieldsID="897ca4c9bf60cf34c28f59e80fa43a95" ns2:_="">
    <xsd:import namespace="89265ff7-2d35-4db8-b915-0105e95ab6bd"/>
    <xsd:element name="properties">
      <xsd:complexType>
        <xsd:sequence>
          <xsd:element name="documentManagement">
            <xsd:complexType>
              <xsd:all>
                <xsd:element ref="ns2:FormName" minOccurs="0"/>
                <xsd:element ref="ns2:FormCategory" minOccurs="0"/>
                <xsd:element ref="ns2:FormVersion" minOccurs="0"/>
                <xsd:element ref="ns2:FormId" minOccurs="0"/>
                <xsd:element ref="ns2:FormLocale" minOccurs="0"/>
                <xsd:element ref="ns2:FormDescription" minOccurs="0"/>
                <xsd:element ref="ns2:CustomContentTypeId" minOccurs="0"/>
                <xsd:element ref="ns2:ShowInCatalog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265ff7-2d35-4db8-b915-0105e95ab6bd" elementFormDefault="qualified">
    <xsd:import namespace="http://schemas.microsoft.com/office/2006/documentManagement/types"/>
    <xsd:import namespace="http://schemas.microsoft.com/office/infopath/2007/PartnerControls"/>
    <xsd:element name="FormName" ma:index="8" nillable="true" ma:displayName="Form Name" ma:internalName="FormName">
      <xsd:simpleType>
        <xsd:restriction base="dms:Text"/>
      </xsd:simpleType>
    </xsd:element>
    <xsd:element name="FormCategory" ma:index="9" nillable="true" ma:displayName="Form Category" ma:internalName="FormCategory">
      <xsd:simpleType>
        <xsd:restriction base="dms:Text"/>
      </xsd:simpleType>
    </xsd:element>
    <xsd:element name="FormVersion" ma:index="10" nillable="true" ma:displayName="Form Version" ma:internalName="FormVersion">
      <xsd:simpleType>
        <xsd:restriction base="dms:Text"/>
      </xsd:simpleType>
    </xsd:element>
    <xsd:element name="FormId" ma:index="11" nillable="true" ma:displayName="Form ID" ma:internalName="FormId">
      <xsd:simpleType>
        <xsd:restriction base="dms:Text"/>
      </xsd:simpleType>
    </xsd:element>
    <xsd:element name="FormLocale" ma:index="12" nillable="true" ma:displayName="Form Locale" ma:internalName="FormLocale">
      <xsd:simpleType>
        <xsd:restriction base="dms:Text"/>
      </xsd:simpleType>
    </xsd:element>
    <xsd:element name="FormDescription" ma:index="13" nillable="true" ma:displayName="Form Description" ma:internalName="FormDescription">
      <xsd:simpleType>
        <xsd:restriction base="dms:Text"/>
      </xsd:simpleType>
    </xsd:element>
    <xsd:element name="CustomContentTypeId" ma:index="14" nillable="true" ma:displayName="Content Type ID" ma:hidden="true" ma:internalName="CustomContentTypeId">
      <xsd:simpleType>
        <xsd:restriction base="dms:Text"/>
      </xsd:simpleType>
    </xsd:element>
    <xsd:element name="ShowInCatalog" ma:index="15" nillable="true" ma:displayName="Show in Catalog" ma:default="TRUE" ma:internalName="ShowInCatalog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FormName xmlns="89265ff7-2d35-4db8-b915-0105e95ab6bd" xsi:nil="true"/>
    <FormVersion xmlns="89265ff7-2d35-4db8-b915-0105e95ab6bd" xsi:nil="true"/>
    <CustomContentTypeId xmlns="89265ff7-2d35-4db8-b915-0105e95ab6bd" xsi:nil="true"/>
    <ShowInCatalog xmlns="89265ff7-2d35-4db8-b915-0105e95ab6bd">true</ShowInCatalog>
    <FormCategory xmlns="89265ff7-2d35-4db8-b915-0105e95ab6bd" xsi:nil="true"/>
    <FormDescription xmlns="89265ff7-2d35-4db8-b915-0105e95ab6bd" xsi:nil="true"/>
    <FormLocale xmlns="89265ff7-2d35-4db8-b915-0105e95ab6bd" xsi:nil="true"/>
    <FormId xmlns="89265ff7-2d35-4db8-b915-0105e95ab6bd" xsi:nil="true"/>
  </documentManagement>
</p:properties>
</file>

<file path=customXml/itemProps1.xml><?xml version="1.0" encoding="utf-8"?>
<ds:datastoreItem xmlns:ds="http://schemas.openxmlformats.org/officeDocument/2006/customXml" ds:itemID="{C103EF72-4B67-47B8-B5B0-088990106B4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9265ff7-2d35-4db8-b915-0105e95ab6b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E75A543-058D-4411-9733-C9151F2912F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B22DCBE-9C7E-4BE1-85B6-B0CA7F0A3F71}">
  <ds:schemaRefs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www.w3.org/XML/1998/namespace"/>
    <ds:schemaRef ds:uri="http://purl.org/dc/dcmitype/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89265ff7-2d35-4db8-b915-0105e95ab6bd"/>
  </ds:schemaRefs>
</ds:datastoreItem>
</file>

<file path=docMetadata/LabelInfo.xml><?xml version="1.0" encoding="utf-8"?>
<clbl:labelList xmlns:clbl="http://schemas.microsoft.com/office/2020/mipLabelMetadata">
  <clbl:label id="{e2e768f6-fef1-4ac6-84bc-1d77352d9175}" enabled="0" method="" siteId="{e2e768f6-fef1-4ac6-84bc-1d77352d917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5941</TotalTime>
  <Words>1096</Words>
  <Application>Microsoft Office PowerPoint</Application>
  <PresentationFormat>Widescreen</PresentationFormat>
  <Paragraphs>105</Paragraphs>
  <Slides>13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13</vt:i4>
      </vt:variant>
    </vt:vector>
  </HeadingPairs>
  <TitlesOfParts>
    <vt:vector size="27" baseType="lpstr">
      <vt:lpstr>Avenir Next LT Pro</vt:lpstr>
      <vt:lpstr>Wingdings</vt:lpstr>
      <vt:lpstr>Cambria Math</vt:lpstr>
      <vt:lpstr>Cairo Medium</vt:lpstr>
      <vt:lpstr>Arial</vt:lpstr>
      <vt:lpstr>Courier New</vt:lpstr>
      <vt:lpstr>Inter</vt:lpstr>
      <vt:lpstr>Calibri</vt:lpstr>
      <vt:lpstr>Cairo</vt:lpstr>
      <vt:lpstr>10_Custom Design</vt:lpstr>
      <vt:lpstr>13_Custom Design</vt:lpstr>
      <vt:lpstr>9_Custom Design</vt:lpstr>
      <vt:lpstr>14_Custom Design</vt:lpstr>
      <vt:lpstr>12_Custom Design</vt:lpstr>
      <vt:lpstr>Drought Risk Analysis for Africa</vt:lpstr>
      <vt:lpstr>Objective: </vt:lpstr>
      <vt:lpstr>Area of Interest</vt:lpstr>
      <vt:lpstr>Standardized Soil Moisture Index (SSI) </vt:lpstr>
      <vt:lpstr>25-Year: Historic Stress</vt:lpstr>
      <vt:lpstr>Correlations</vt:lpstr>
      <vt:lpstr>Spatially-Constrained Drought Risk Zones</vt:lpstr>
      <vt:lpstr>Spatially-Constrained Drought Risk Zones (λ=0.1,K=3)</vt:lpstr>
      <vt:lpstr>Custer Drought Trajectories vs ENSO (λ=0.1,K=3)</vt:lpstr>
      <vt:lpstr>Continental Diversification: Southern Africa</vt:lpstr>
      <vt:lpstr>West Africa</vt:lpstr>
      <vt:lpstr>References: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ASR Information Pack</dc:title>
  <dc:subject/>
  <dc:creator>Nicola Bellamy</dc:creator>
  <cp:keywords/>
  <dc:description/>
  <cp:lastModifiedBy>Flawiya Shirish More</cp:lastModifiedBy>
  <cp:revision>13</cp:revision>
  <cp:lastPrinted>2026-08-10T16:58:58Z</cp:lastPrinted>
  <dcterms:created xsi:type="dcterms:W3CDTF">2020-10-21T12:21:11Z</dcterms:created>
  <dcterms:modified xsi:type="dcterms:W3CDTF">2026-09-17T13:18:15Z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0x010100F8EF98760CBA4A94994F13BA881038FA004FDA88259E2DCB40A89F89B9574DB257</vt:lpwstr>
  </property>
  <property fmtid="{D5CDD505-2E9C-101B-9397-08002B2CF9AE}" pid="3" name="ComplianceAssetId">
    <vt:lpwstr/>
  </property>
  <property fmtid="{D5CDD505-2E9C-101B-9397-08002B2CF9AE}" pid="4" name="_ExtendedDescription">
    <vt:lpwstr/>
  </property>
  <property fmtid="{D5CDD505-2E9C-101B-9397-08002B2CF9AE}" pid="5" name="MediaServiceImageTags">
    <vt:lpwstr/>
  </property>
  <property fmtid="{D5CDD505-2E9C-101B-9397-08002B2CF9AE}" pid="6" name="TitusGUID">
    <vt:lpwstr>31b5e933-b25f-4668-8444-a9f645c08de3</vt:lpwstr>
  </property>
  <property fmtid="{D5CDD505-2E9C-101B-9397-08002B2CF9AE}" pid="7" name="AonClassification">
    <vt:lpwstr>ADC_class_100</vt:lpwstr>
  </property>
  <property fmtid="{D5CDD505-2E9C-101B-9397-08002B2CF9AE}" pid="8" name="lcf76f155ced4ddcb4097134ff3c332f">
    <vt:lpwstr/>
  </property>
  <property fmtid="{D5CDD505-2E9C-101B-9397-08002B2CF9AE}" pid="9" name="TaxCatchAll">
    <vt:lpwstr/>
  </property>
</Properties>
</file>